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58" r:id="rId4"/>
    <p:sldId id="259" r:id="rId5"/>
    <p:sldId id="267" r:id="rId6"/>
    <p:sldId id="260" r:id="rId7"/>
    <p:sldId id="261" r:id="rId8"/>
    <p:sldId id="262" r:id="rId9"/>
    <p:sldId id="263" r:id="rId10"/>
    <p:sldId id="264"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3"/>
                <c:pt idx="0">
                  <c:v>lightGBM</c:v>
                </c:pt>
                <c:pt idx="1">
                  <c:v>Random Forest</c:v>
                </c:pt>
                <c:pt idx="2">
                  <c:v>XG Boost</c:v>
                </c:pt>
              </c:strCache>
            </c:strRef>
          </c:cat>
          <c:val>
            <c:numRef>
              <c:f>Sheet1!$B$2:$B$5</c:f>
              <c:numCache>
                <c:formatCode>General</c:formatCode>
                <c:ptCount val="4"/>
                <c:pt idx="0">
                  <c:v>5</c:v>
                </c:pt>
                <c:pt idx="1">
                  <c:v>2.5</c:v>
                </c:pt>
                <c:pt idx="2">
                  <c:v>1</c:v>
                </c:pt>
              </c:numCache>
            </c:numRef>
          </c:val>
          <c:extLst>
            <c:ext xmlns:c16="http://schemas.microsoft.com/office/drawing/2014/chart" uri="{C3380CC4-5D6E-409C-BE32-E72D297353CC}">
              <c16:uniqueId val="{00000000-85C9-4553-B1DA-1F9B6FD17441}"/>
            </c:ext>
          </c:extLst>
        </c:ser>
        <c:ser>
          <c:idx val="1"/>
          <c:order val="1"/>
          <c:tx>
            <c:strRef>
              <c:f>Sheet1!$C$1</c:f>
              <c:strCache>
                <c:ptCount val="1"/>
                <c:pt idx="0">
                  <c:v>Column1</c:v>
                </c:pt>
              </c:strCache>
            </c:strRef>
          </c:tx>
          <c:spPr>
            <a:solidFill>
              <a:schemeClr val="accent2"/>
            </a:solidFill>
            <a:ln>
              <a:noFill/>
            </a:ln>
            <a:effectLst/>
          </c:spPr>
          <c:invertIfNegative val="0"/>
          <c:cat>
            <c:strRef>
              <c:f>Sheet1!$A$2:$A$5</c:f>
              <c:strCache>
                <c:ptCount val="3"/>
                <c:pt idx="0">
                  <c:v>lightGBM</c:v>
                </c:pt>
                <c:pt idx="1">
                  <c:v>Random Forest</c:v>
                </c:pt>
                <c:pt idx="2">
                  <c:v>XG Boost</c:v>
                </c:pt>
              </c:strCache>
            </c:strRef>
          </c:cat>
          <c:val>
            <c:numRef>
              <c:f>Sheet1!$C$2:$C$5</c:f>
              <c:numCache>
                <c:formatCode>General</c:formatCode>
                <c:ptCount val="4"/>
              </c:numCache>
            </c:numRef>
          </c:val>
          <c:extLst>
            <c:ext xmlns:c16="http://schemas.microsoft.com/office/drawing/2014/chart" uri="{C3380CC4-5D6E-409C-BE32-E72D297353CC}">
              <c16:uniqueId val="{00000001-85C9-4553-B1DA-1F9B6FD17441}"/>
            </c:ext>
          </c:extLst>
        </c:ser>
        <c:ser>
          <c:idx val="2"/>
          <c:order val="2"/>
          <c:tx>
            <c:strRef>
              <c:f>Sheet1!$D$1</c:f>
              <c:strCache>
                <c:ptCount val="1"/>
                <c:pt idx="0">
                  <c:v>Column2</c:v>
                </c:pt>
              </c:strCache>
            </c:strRef>
          </c:tx>
          <c:spPr>
            <a:solidFill>
              <a:schemeClr val="accent3"/>
            </a:solidFill>
            <a:ln>
              <a:noFill/>
            </a:ln>
            <a:effectLst/>
          </c:spPr>
          <c:invertIfNegative val="0"/>
          <c:cat>
            <c:strRef>
              <c:f>Sheet1!$A$2:$A$5</c:f>
              <c:strCache>
                <c:ptCount val="3"/>
                <c:pt idx="0">
                  <c:v>lightGBM</c:v>
                </c:pt>
                <c:pt idx="1">
                  <c:v>Random Forest</c:v>
                </c:pt>
                <c:pt idx="2">
                  <c:v>XG Boost</c:v>
                </c:pt>
              </c:strCache>
            </c:strRef>
          </c:cat>
          <c:val>
            <c:numRef>
              <c:f>Sheet1!$D$2:$D$5</c:f>
              <c:numCache>
                <c:formatCode>General</c:formatCode>
                <c:ptCount val="4"/>
              </c:numCache>
            </c:numRef>
          </c:val>
          <c:extLst>
            <c:ext xmlns:c16="http://schemas.microsoft.com/office/drawing/2014/chart" uri="{C3380CC4-5D6E-409C-BE32-E72D297353CC}">
              <c16:uniqueId val="{00000002-85C9-4553-B1DA-1F9B6FD17441}"/>
            </c:ext>
          </c:extLst>
        </c:ser>
        <c:dLbls>
          <c:showLegendKey val="0"/>
          <c:showVal val="0"/>
          <c:showCatName val="0"/>
          <c:showSerName val="0"/>
          <c:showPercent val="0"/>
          <c:showBubbleSize val="0"/>
        </c:dLbls>
        <c:gapWidth val="219"/>
        <c:overlap val="-27"/>
        <c:axId val="82222623"/>
        <c:axId val="82226463"/>
      </c:barChart>
      <c:catAx>
        <c:axId val="822226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2226463"/>
        <c:crosses val="autoZero"/>
        <c:auto val="1"/>
        <c:lblAlgn val="ctr"/>
        <c:lblOffset val="100"/>
        <c:noMultiLvlLbl val="0"/>
      </c:catAx>
      <c:valAx>
        <c:axId val="8222646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22226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3B46C-151E-86AC-DA14-F1EEB3161C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84FF800-87A7-9704-0E68-CFC9CF85B4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7E975C3-A65F-19EA-91CC-BA072E1B5A84}"/>
              </a:ext>
            </a:extLst>
          </p:cNvPr>
          <p:cNvSpPr>
            <a:spLocks noGrp="1"/>
          </p:cNvSpPr>
          <p:nvPr>
            <p:ph type="dt" sz="half" idx="10"/>
          </p:nvPr>
        </p:nvSpPr>
        <p:spPr/>
        <p:txBody>
          <a:bodyPr/>
          <a:lstStyle/>
          <a:p>
            <a:fld id="{92FC51F9-BA67-4D37-89CA-D534EABB44A3}" type="datetimeFigureOut">
              <a:rPr lang="en-IN" smtClean="0"/>
              <a:t>31-10-2025</a:t>
            </a:fld>
            <a:endParaRPr lang="en-IN"/>
          </a:p>
        </p:txBody>
      </p:sp>
      <p:sp>
        <p:nvSpPr>
          <p:cNvPr id="5" name="Footer Placeholder 4">
            <a:extLst>
              <a:ext uri="{FF2B5EF4-FFF2-40B4-BE49-F238E27FC236}">
                <a16:creationId xmlns:a16="http://schemas.microsoft.com/office/drawing/2014/main" id="{EDC3819C-0051-F90E-75F3-D4C7FBD769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9179B1-03BF-EE6F-8484-361FC3A7723A}"/>
              </a:ext>
            </a:extLst>
          </p:cNvPr>
          <p:cNvSpPr>
            <a:spLocks noGrp="1"/>
          </p:cNvSpPr>
          <p:nvPr>
            <p:ph type="sldNum" sz="quarter" idx="12"/>
          </p:nvPr>
        </p:nvSpPr>
        <p:spPr/>
        <p:txBody>
          <a:bodyPr/>
          <a:lstStyle/>
          <a:p>
            <a:fld id="{10552E10-FC32-4A1B-93DB-127B0C34689F}" type="slidenum">
              <a:rPr lang="en-IN" smtClean="0"/>
              <a:t>‹#›</a:t>
            </a:fld>
            <a:endParaRPr lang="en-IN"/>
          </a:p>
        </p:txBody>
      </p:sp>
    </p:spTree>
    <p:extLst>
      <p:ext uri="{BB962C8B-B14F-4D97-AF65-F5344CB8AC3E}">
        <p14:creationId xmlns:p14="http://schemas.microsoft.com/office/powerpoint/2010/main" val="4187728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3EE89-FF4E-24FD-8A14-5BA777AB6E9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45B31B4-FD85-EF6D-5209-9FB80BAEEA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F6E8AA-3272-3629-DC40-E59C8C9B6980}"/>
              </a:ext>
            </a:extLst>
          </p:cNvPr>
          <p:cNvSpPr>
            <a:spLocks noGrp="1"/>
          </p:cNvSpPr>
          <p:nvPr>
            <p:ph type="dt" sz="half" idx="10"/>
          </p:nvPr>
        </p:nvSpPr>
        <p:spPr/>
        <p:txBody>
          <a:bodyPr/>
          <a:lstStyle/>
          <a:p>
            <a:fld id="{92FC51F9-BA67-4D37-89CA-D534EABB44A3}" type="datetimeFigureOut">
              <a:rPr lang="en-IN" smtClean="0"/>
              <a:t>31-10-2025</a:t>
            </a:fld>
            <a:endParaRPr lang="en-IN"/>
          </a:p>
        </p:txBody>
      </p:sp>
      <p:sp>
        <p:nvSpPr>
          <p:cNvPr id="5" name="Footer Placeholder 4">
            <a:extLst>
              <a:ext uri="{FF2B5EF4-FFF2-40B4-BE49-F238E27FC236}">
                <a16:creationId xmlns:a16="http://schemas.microsoft.com/office/drawing/2014/main" id="{4812CE67-4566-E9D5-623B-3EED54F944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DC3DEC-BEFA-33FE-C7AB-F89521B68505}"/>
              </a:ext>
            </a:extLst>
          </p:cNvPr>
          <p:cNvSpPr>
            <a:spLocks noGrp="1"/>
          </p:cNvSpPr>
          <p:nvPr>
            <p:ph type="sldNum" sz="quarter" idx="12"/>
          </p:nvPr>
        </p:nvSpPr>
        <p:spPr/>
        <p:txBody>
          <a:bodyPr/>
          <a:lstStyle/>
          <a:p>
            <a:fld id="{10552E10-FC32-4A1B-93DB-127B0C34689F}" type="slidenum">
              <a:rPr lang="en-IN" smtClean="0"/>
              <a:t>‹#›</a:t>
            </a:fld>
            <a:endParaRPr lang="en-IN"/>
          </a:p>
        </p:txBody>
      </p:sp>
    </p:spTree>
    <p:extLst>
      <p:ext uri="{BB962C8B-B14F-4D97-AF65-F5344CB8AC3E}">
        <p14:creationId xmlns:p14="http://schemas.microsoft.com/office/powerpoint/2010/main" val="1029838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5AE03-9370-9CDD-07EB-3DB0881385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2D5A27C-5112-B6D3-58F5-A8FB4408E52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871D2D-BC21-E1BC-D33D-0598B6055BC1}"/>
              </a:ext>
            </a:extLst>
          </p:cNvPr>
          <p:cNvSpPr>
            <a:spLocks noGrp="1"/>
          </p:cNvSpPr>
          <p:nvPr>
            <p:ph type="dt" sz="half" idx="10"/>
          </p:nvPr>
        </p:nvSpPr>
        <p:spPr/>
        <p:txBody>
          <a:bodyPr/>
          <a:lstStyle/>
          <a:p>
            <a:fld id="{92FC51F9-BA67-4D37-89CA-D534EABB44A3}" type="datetimeFigureOut">
              <a:rPr lang="en-IN" smtClean="0"/>
              <a:t>31-10-2025</a:t>
            </a:fld>
            <a:endParaRPr lang="en-IN"/>
          </a:p>
        </p:txBody>
      </p:sp>
      <p:sp>
        <p:nvSpPr>
          <p:cNvPr id="5" name="Footer Placeholder 4">
            <a:extLst>
              <a:ext uri="{FF2B5EF4-FFF2-40B4-BE49-F238E27FC236}">
                <a16:creationId xmlns:a16="http://schemas.microsoft.com/office/drawing/2014/main" id="{ECA8E17F-09F9-891C-4339-B9C38BDE50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D8EFC3-33B8-DFEB-F7F0-16D8FB74F599}"/>
              </a:ext>
            </a:extLst>
          </p:cNvPr>
          <p:cNvSpPr>
            <a:spLocks noGrp="1"/>
          </p:cNvSpPr>
          <p:nvPr>
            <p:ph type="sldNum" sz="quarter" idx="12"/>
          </p:nvPr>
        </p:nvSpPr>
        <p:spPr/>
        <p:txBody>
          <a:bodyPr/>
          <a:lstStyle/>
          <a:p>
            <a:fld id="{10552E10-FC32-4A1B-93DB-127B0C34689F}" type="slidenum">
              <a:rPr lang="en-IN" smtClean="0"/>
              <a:t>‹#›</a:t>
            </a:fld>
            <a:endParaRPr lang="en-IN"/>
          </a:p>
        </p:txBody>
      </p:sp>
    </p:spTree>
    <p:extLst>
      <p:ext uri="{BB962C8B-B14F-4D97-AF65-F5344CB8AC3E}">
        <p14:creationId xmlns:p14="http://schemas.microsoft.com/office/powerpoint/2010/main" val="4018547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C06D8-21E5-CDAC-28A3-15DC8FA199D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4B1F2EE-DBD6-F4B2-C46D-83EC855A96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8A07069-E217-E838-0895-1D34A6400B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F60E02A-D75E-CDAE-68CB-2507A19789DA}"/>
              </a:ext>
            </a:extLst>
          </p:cNvPr>
          <p:cNvSpPr>
            <a:spLocks noGrp="1"/>
          </p:cNvSpPr>
          <p:nvPr>
            <p:ph type="dt" sz="half" idx="10"/>
          </p:nvPr>
        </p:nvSpPr>
        <p:spPr/>
        <p:txBody>
          <a:bodyPr/>
          <a:lstStyle/>
          <a:p>
            <a:fld id="{92FC51F9-BA67-4D37-89CA-D534EABB44A3}" type="datetimeFigureOut">
              <a:rPr lang="en-IN" smtClean="0"/>
              <a:t>31-10-2025</a:t>
            </a:fld>
            <a:endParaRPr lang="en-IN"/>
          </a:p>
        </p:txBody>
      </p:sp>
      <p:sp>
        <p:nvSpPr>
          <p:cNvPr id="6" name="Footer Placeholder 5">
            <a:extLst>
              <a:ext uri="{FF2B5EF4-FFF2-40B4-BE49-F238E27FC236}">
                <a16:creationId xmlns:a16="http://schemas.microsoft.com/office/drawing/2014/main" id="{EBFB4470-CD90-576A-B388-323F8E0BF0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BDE9F5F-467A-0F38-6942-86DBFCC0F907}"/>
              </a:ext>
            </a:extLst>
          </p:cNvPr>
          <p:cNvSpPr>
            <a:spLocks noGrp="1"/>
          </p:cNvSpPr>
          <p:nvPr>
            <p:ph type="sldNum" sz="quarter" idx="12"/>
          </p:nvPr>
        </p:nvSpPr>
        <p:spPr/>
        <p:txBody>
          <a:bodyPr/>
          <a:lstStyle/>
          <a:p>
            <a:fld id="{10552E10-FC32-4A1B-93DB-127B0C34689F}" type="slidenum">
              <a:rPr lang="en-IN" smtClean="0"/>
              <a:t>‹#›</a:t>
            </a:fld>
            <a:endParaRPr lang="en-IN"/>
          </a:p>
        </p:txBody>
      </p:sp>
    </p:spTree>
    <p:extLst>
      <p:ext uri="{BB962C8B-B14F-4D97-AF65-F5344CB8AC3E}">
        <p14:creationId xmlns:p14="http://schemas.microsoft.com/office/powerpoint/2010/main" val="41724239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69879-D3C0-24C8-DF2B-5BEFE6017EC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F3AD9D8-2047-1EF5-83CA-4E5E16FCD1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A63883-B9C8-7309-F0AD-0FA59126BE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B3DE02B-F391-8590-8EDC-D9A7BEADA9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E7ED6B-A605-A677-07E3-959EF02312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0FA11F1-1E97-0FF2-524B-3AAC2A20297D}"/>
              </a:ext>
            </a:extLst>
          </p:cNvPr>
          <p:cNvSpPr>
            <a:spLocks noGrp="1"/>
          </p:cNvSpPr>
          <p:nvPr>
            <p:ph type="dt" sz="half" idx="10"/>
          </p:nvPr>
        </p:nvSpPr>
        <p:spPr/>
        <p:txBody>
          <a:bodyPr/>
          <a:lstStyle/>
          <a:p>
            <a:fld id="{92FC51F9-BA67-4D37-89CA-D534EABB44A3}" type="datetimeFigureOut">
              <a:rPr lang="en-IN" smtClean="0"/>
              <a:t>31-10-2025</a:t>
            </a:fld>
            <a:endParaRPr lang="en-IN"/>
          </a:p>
        </p:txBody>
      </p:sp>
      <p:sp>
        <p:nvSpPr>
          <p:cNvPr id="8" name="Footer Placeholder 7">
            <a:extLst>
              <a:ext uri="{FF2B5EF4-FFF2-40B4-BE49-F238E27FC236}">
                <a16:creationId xmlns:a16="http://schemas.microsoft.com/office/drawing/2014/main" id="{469D11E7-A214-46A1-B3BE-68642478D81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F135B7B-9536-D640-C757-04F4FB8A1BB9}"/>
              </a:ext>
            </a:extLst>
          </p:cNvPr>
          <p:cNvSpPr>
            <a:spLocks noGrp="1"/>
          </p:cNvSpPr>
          <p:nvPr>
            <p:ph type="sldNum" sz="quarter" idx="12"/>
          </p:nvPr>
        </p:nvSpPr>
        <p:spPr/>
        <p:txBody>
          <a:bodyPr/>
          <a:lstStyle/>
          <a:p>
            <a:fld id="{10552E10-FC32-4A1B-93DB-127B0C34689F}" type="slidenum">
              <a:rPr lang="en-IN" smtClean="0"/>
              <a:t>‹#›</a:t>
            </a:fld>
            <a:endParaRPr lang="en-IN"/>
          </a:p>
        </p:txBody>
      </p:sp>
    </p:spTree>
    <p:extLst>
      <p:ext uri="{BB962C8B-B14F-4D97-AF65-F5344CB8AC3E}">
        <p14:creationId xmlns:p14="http://schemas.microsoft.com/office/powerpoint/2010/main" val="2907416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E5323-0321-43F6-DE50-A7444D6BFFA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2A6C2ED-5C03-7ED8-1141-C344761AF0FF}"/>
              </a:ext>
            </a:extLst>
          </p:cNvPr>
          <p:cNvSpPr>
            <a:spLocks noGrp="1"/>
          </p:cNvSpPr>
          <p:nvPr>
            <p:ph type="dt" sz="half" idx="10"/>
          </p:nvPr>
        </p:nvSpPr>
        <p:spPr/>
        <p:txBody>
          <a:bodyPr/>
          <a:lstStyle/>
          <a:p>
            <a:fld id="{92FC51F9-BA67-4D37-89CA-D534EABB44A3}" type="datetimeFigureOut">
              <a:rPr lang="en-IN" smtClean="0"/>
              <a:t>31-10-2025</a:t>
            </a:fld>
            <a:endParaRPr lang="en-IN"/>
          </a:p>
        </p:txBody>
      </p:sp>
      <p:sp>
        <p:nvSpPr>
          <p:cNvPr id="4" name="Footer Placeholder 3">
            <a:extLst>
              <a:ext uri="{FF2B5EF4-FFF2-40B4-BE49-F238E27FC236}">
                <a16:creationId xmlns:a16="http://schemas.microsoft.com/office/drawing/2014/main" id="{208E10B3-2349-3BE4-8F71-3FCB24EB93E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A383B6E-83F8-5448-8C73-AAD90474067D}"/>
              </a:ext>
            </a:extLst>
          </p:cNvPr>
          <p:cNvSpPr>
            <a:spLocks noGrp="1"/>
          </p:cNvSpPr>
          <p:nvPr>
            <p:ph type="sldNum" sz="quarter" idx="12"/>
          </p:nvPr>
        </p:nvSpPr>
        <p:spPr/>
        <p:txBody>
          <a:bodyPr/>
          <a:lstStyle/>
          <a:p>
            <a:fld id="{10552E10-FC32-4A1B-93DB-127B0C34689F}" type="slidenum">
              <a:rPr lang="en-IN" smtClean="0"/>
              <a:t>‹#›</a:t>
            </a:fld>
            <a:endParaRPr lang="en-IN"/>
          </a:p>
        </p:txBody>
      </p:sp>
    </p:spTree>
    <p:extLst>
      <p:ext uri="{BB962C8B-B14F-4D97-AF65-F5344CB8AC3E}">
        <p14:creationId xmlns:p14="http://schemas.microsoft.com/office/powerpoint/2010/main" val="332886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87488E-FB64-8F1F-801A-2DC1AF607913}"/>
              </a:ext>
            </a:extLst>
          </p:cNvPr>
          <p:cNvSpPr>
            <a:spLocks noGrp="1"/>
          </p:cNvSpPr>
          <p:nvPr>
            <p:ph type="dt" sz="half" idx="10"/>
          </p:nvPr>
        </p:nvSpPr>
        <p:spPr/>
        <p:txBody>
          <a:bodyPr/>
          <a:lstStyle/>
          <a:p>
            <a:fld id="{92FC51F9-BA67-4D37-89CA-D534EABB44A3}" type="datetimeFigureOut">
              <a:rPr lang="en-IN" smtClean="0"/>
              <a:t>31-10-2025</a:t>
            </a:fld>
            <a:endParaRPr lang="en-IN"/>
          </a:p>
        </p:txBody>
      </p:sp>
      <p:sp>
        <p:nvSpPr>
          <p:cNvPr id="3" name="Footer Placeholder 2">
            <a:extLst>
              <a:ext uri="{FF2B5EF4-FFF2-40B4-BE49-F238E27FC236}">
                <a16:creationId xmlns:a16="http://schemas.microsoft.com/office/drawing/2014/main" id="{FBBC9BA0-4FD0-5EF5-A99F-03337241EB7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6167B6F-266D-A24D-A023-2AD00210188E}"/>
              </a:ext>
            </a:extLst>
          </p:cNvPr>
          <p:cNvSpPr>
            <a:spLocks noGrp="1"/>
          </p:cNvSpPr>
          <p:nvPr>
            <p:ph type="sldNum" sz="quarter" idx="12"/>
          </p:nvPr>
        </p:nvSpPr>
        <p:spPr/>
        <p:txBody>
          <a:bodyPr/>
          <a:lstStyle/>
          <a:p>
            <a:fld id="{10552E10-FC32-4A1B-93DB-127B0C34689F}" type="slidenum">
              <a:rPr lang="en-IN" smtClean="0"/>
              <a:t>‹#›</a:t>
            </a:fld>
            <a:endParaRPr lang="en-IN"/>
          </a:p>
        </p:txBody>
      </p:sp>
    </p:spTree>
    <p:extLst>
      <p:ext uri="{BB962C8B-B14F-4D97-AF65-F5344CB8AC3E}">
        <p14:creationId xmlns:p14="http://schemas.microsoft.com/office/powerpoint/2010/main" val="850237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CAB11-55C4-2402-7BF1-C8F08EEACD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DBE9F12-DE52-FF06-79B9-6FBC6A0395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7FA6BAA-447B-BF1F-F484-D0BA981627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568AEE-6518-7B08-63C1-F0F631D86BDD}"/>
              </a:ext>
            </a:extLst>
          </p:cNvPr>
          <p:cNvSpPr>
            <a:spLocks noGrp="1"/>
          </p:cNvSpPr>
          <p:nvPr>
            <p:ph type="dt" sz="half" idx="10"/>
          </p:nvPr>
        </p:nvSpPr>
        <p:spPr/>
        <p:txBody>
          <a:bodyPr/>
          <a:lstStyle/>
          <a:p>
            <a:fld id="{92FC51F9-BA67-4D37-89CA-D534EABB44A3}" type="datetimeFigureOut">
              <a:rPr lang="en-IN" smtClean="0"/>
              <a:t>31-10-2025</a:t>
            </a:fld>
            <a:endParaRPr lang="en-IN"/>
          </a:p>
        </p:txBody>
      </p:sp>
      <p:sp>
        <p:nvSpPr>
          <p:cNvPr id="6" name="Footer Placeholder 5">
            <a:extLst>
              <a:ext uri="{FF2B5EF4-FFF2-40B4-BE49-F238E27FC236}">
                <a16:creationId xmlns:a16="http://schemas.microsoft.com/office/drawing/2014/main" id="{8106C031-0091-9CF0-28D6-23619931765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6D69FA5-77BC-0A23-1949-3EB7B5CFB941}"/>
              </a:ext>
            </a:extLst>
          </p:cNvPr>
          <p:cNvSpPr>
            <a:spLocks noGrp="1"/>
          </p:cNvSpPr>
          <p:nvPr>
            <p:ph type="sldNum" sz="quarter" idx="12"/>
          </p:nvPr>
        </p:nvSpPr>
        <p:spPr/>
        <p:txBody>
          <a:bodyPr/>
          <a:lstStyle/>
          <a:p>
            <a:fld id="{10552E10-FC32-4A1B-93DB-127B0C34689F}" type="slidenum">
              <a:rPr lang="en-IN" smtClean="0"/>
              <a:t>‹#›</a:t>
            </a:fld>
            <a:endParaRPr lang="en-IN"/>
          </a:p>
        </p:txBody>
      </p:sp>
    </p:spTree>
    <p:extLst>
      <p:ext uri="{BB962C8B-B14F-4D97-AF65-F5344CB8AC3E}">
        <p14:creationId xmlns:p14="http://schemas.microsoft.com/office/powerpoint/2010/main" val="1195772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758CD-9580-2EE6-A50D-A8A4E46545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163243E-3885-9CC6-352E-EA0BE15FC5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ADD20D5-5EA7-2312-CCD9-5248CE1F94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A16F86-B858-F801-DADB-07661D6A8150}"/>
              </a:ext>
            </a:extLst>
          </p:cNvPr>
          <p:cNvSpPr>
            <a:spLocks noGrp="1"/>
          </p:cNvSpPr>
          <p:nvPr>
            <p:ph type="dt" sz="half" idx="10"/>
          </p:nvPr>
        </p:nvSpPr>
        <p:spPr/>
        <p:txBody>
          <a:bodyPr/>
          <a:lstStyle/>
          <a:p>
            <a:fld id="{92FC51F9-BA67-4D37-89CA-D534EABB44A3}" type="datetimeFigureOut">
              <a:rPr lang="en-IN" smtClean="0"/>
              <a:t>31-10-2025</a:t>
            </a:fld>
            <a:endParaRPr lang="en-IN"/>
          </a:p>
        </p:txBody>
      </p:sp>
      <p:sp>
        <p:nvSpPr>
          <p:cNvPr id="6" name="Footer Placeholder 5">
            <a:extLst>
              <a:ext uri="{FF2B5EF4-FFF2-40B4-BE49-F238E27FC236}">
                <a16:creationId xmlns:a16="http://schemas.microsoft.com/office/drawing/2014/main" id="{06B344A2-5669-855A-20E6-931E672FE7C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EA17C3B-BB63-B692-9904-E514FD47C9B2}"/>
              </a:ext>
            </a:extLst>
          </p:cNvPr>
          <p:cNvSpPr>
            <a:spLocks noGrp="1"/>
          </p:cNvSpPr>
          <p:nvPr>
            <p:ph type="sldNum" sz="quarter" idx="12"/>
          </p:nvPr>
        </p:nvSpPr>
        <p:spPr/>
        <p:txBody>
          <a:bodyPr/>
          <a:lstStyle/>
          <a:p>
            <a:fld id="{10552E10-FC32-4A1B-93DB-127B0C34689F}" type="slidenum">
              <a:rPr lang="en-IN" smtClean="0"/>
              <a:t>‹#›</a:t>
            </a:fld>
            <a:endParaRPr lang="en-IN"/>
          </a:p>
        </p:txBody>
      </p:sp>
    </p:spTree>
    <p:extLst>
      <p:ext uri="{BB962C8B-B14F-4D97-AF65-F5344CB8AC3E}">
        <p14:creationId xmlns:p14="http://schemas.microsoft.com/office/powerpoint/2010/main" val="1945198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598E1-63A9-B379-4D78-B28CE63F4F2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56ECBA7-6058-66DB-FDE1-0DBDB40E3D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FBE3BD-75C7-9394-C473-662F2492DD15}"/>
              </a:ext>
            </a:extLst>
          </p:cNvPr>
          <p:cNvSpPr>
            <a:spLocks noGrp="1"/>
          </p:cNvSpPr>
          <p:nvPr>
            <p:ph type="dt" sz="half" idx="10"/>
          </p:nvPr>
        </p:nvSpPr>
        <p:spPr/>
        <p:txBody>
          <a:bodyPr/>
          <a:lstStyle/>
          <a:p>
            <a:fld id="{92FC51F9-BA67-4D37-89CA-D534EABB44A3}" type="datetimeFigureOut">
              <a:rPr lang="en-IN" smtClean="0"/>
              <a:t>31-10-2025</a:t>
            </a:fld>
            <a:endParaRPr lang="en-IN"/>
          </a:p>
        </p:txBody>
      </p:sp>
      <p:sp>
        <p:nvSpPr>
          <p:cNvPr id="5" name="Footer Placeholder 4">
            <a:extLst>
              <a:ext uri="{FF2B5EF4-FFF2-40B4-BE49-F238E27FC236}">
                <a16:creationId xmlns:a16="http://schemas.microsoft.com/office/drawing/2014/main" id="{76B771E5-3263-932D-84E4-34E02516C4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630C55-1C19-424E-7DA5-D560521DB23B}"/>
              </a:ext>
            </a:extLst>
          </p:cNvPr>
          <p:cNvSpPr>
            <a:spLocks noGrp="1"/>
          </p:cNvSpPr>
          <p:nvPr>
            <p:ph type="sldNum" sz="quarter" idx="12"/>
          </p:nvPr>
        </p:nvSpPr>
        <p:spPr/>
        <p:txBody>
          <a:bodyPr/>
          <a:lstStyle/>
          <a:p>
            <a:fld id="{10552E10-FC32-4A1B-93DB-127B0C34689F}" type="slidenum">
              <a:rPr lang="en-IN" smtClean="0"/>
              <a:t>‹#›</a:t>
            </a:fld>
            <a:endParaRPr lang="en-IN"/>
          </a:p>
        </p:txBody>
      </p:sp>
    </p:spTree>
    <p:extLst>
      <p:ext uri="{BB962C8B-B14F-4D97-AF65-F5344CB8AC3E}">
        <p14:creationId xmlns:p14="http://schemas.microsoft.com/office/powerpoint/2010/main" val="3872370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7F0AFF-D3AD-28F7-6C5C-DC3DBDC0E4D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3BAEEF5-0742-645E-0160-D1BDA5EA0DC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ED9B18-770B-594D-2F0C-829DB5A3DDB5}"/>
              </a:ext>
            </a:extLst>
          </p:cNvPr>
          <p:cNvSpPr>
            <a:spLocks noGrp="1"/>
          </p:cNvSpPr>
          <p:nvPr>
            <p:ph type="dt" sz="half" idx="10"/>
          </p:nvPr>
        </p:nvSpPr>
        <p:spPr/>
        <p:txBody>
          <a:bodyPr/>
          <a:lstStyle/>
          <a:p>
            <a:fld id="{92FC51F9-BA67-4D37-89CA-D534EABB44A3}" type="datetimeFigureOut">
              <a:rPr lang="en-IN" smtClean="0"/>
              <a:t>31-10-2025</a:t>
            </a:fld>
            <a:endParaRPr lang="en-IN"/>
          </a:p>
        </p:txBody>
      </p:sp>
      <p:sp>
        <p:nvSpPr>
          <p:cNvPr id="5" name="Footer Placeholder 4">
            <a:extLst>
              <a:ext uri="{FF2B5EF4-FFF2-40B4-BE49-F238E27FC236}">
                <a16:creationId xmlns:a16="http://schemas.microsoft.com/office/drawing/2014/main" id="{4C60589C-1024-7272-AF0F-BCC6E1C1E1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7138F2-5539-1B6D-1636-FEF557414F6D}"/>
              </a:ext>
            </a:extLst>
          </p:cNvPr>
          <p:cNvSpPr>
            <a:spLocks noGrp="1"/>
          </p:cNvSpPr>
          <p:nvPr>
            <p:ph type="sldNum" sz="quarter" idx="12"/>
          </p:nvPr>
        </p:nvSpPr>
        <p:spPr/>
        <p:txBody>
          <a:bodyPr/>
          <a:lstStyle/>
          <a:p>
            <a:fld id="{10552E10-FC32-4A1B-93DB-127B0C34689F}" type="slidenum">
              <a:rPr lang="en-IN" smtClean="0"/>
              <a:t>‹#›</a:t>
            </a:fld>
            <a:endParaRPr lang="en-IN"/>
          </a:p>
        </p:txBody>
      </p:sp>
    </p:spTree>
    <p:extLst>
      <p:ext uri="{BB962C8B-B14F-4D97-AF65-F5344CB8AC3E}">
        <p14:creationId xmlns:p14="http://schemas.microsoft.com/office/powerpoint/2010/main" val="19400591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FC51F9-BA67-4D37-89CA-D534EABB44A3}"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552E10-FC32-4A1B-93DB-127B0C34689F}" type="slidenum">
              <a:rPr lang="en-IN" smtClean="0"/>
              <a:t>‹#›</a:t>
            </a:fld>
            <a:endParaRPr lang="en-IN"/>
          </a:p>
        </p:txBody>
      </p:sp>
    </p:spTree>
    <p:extLst>
      <p:ext uri="{BB962C8B-B14F-4D97-AF65-F5344CB8AC3E}">
        <p14:creationId xmlns:p14="http://schemas.microsoft.com/office/powerpoint/2010/main" val="639911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0FF42E-5172-2095-7C57-732258A940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4179880-F50A-AAA2-4564-2A1D740712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3913BC-2813-C397-4A88-10F83124C7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FC51F9-BA67-4D37-89CA-D534EABB44A3}" type="datetimeFigureOut">
              <a:rPr lang="en-IN" smtClean="0"/>
              <a:t>31-10-2025</a:t>
            </a:fld>
            <a:endParaRPr lang="en-IN"/>
          </a:p>
        </p:txBody>
      </p:sp>
      <p:sp>
        <p:nvSpPr>
          <p:cNvPr id="5" name="Footer Placeholder 4">
            <a:extLst>
              <a:ext uri="{FF2B5EF4-FFF2-40B4-BE49-F238E27FC236}">
                <a16:creationId xmlns:a16="http://schemas.microsoft.com/office/drawing/2014/main" id="{63FF96F3-E3A3-B62F-C3F5-0E370CAA78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61FDBE5-2096-13C9-CAFC-5437BE6816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552E10-FC32-4A1B-93DB-127B0C34689F}" type="slidenum">
              <a:rPr lang="en-IN" smtClean="0"/>
              <a:t>‹#›</a:t>
            </a:fld>
            <a:endParaRPr lang="en-IN"/>
          </a:p>
        </p:txBody>
      </p:sp>
    </p:spTree>
    <p:extLst>
      <p:ext uri="{BB962C8B-B14F-4D97-AF65-F5344CB8AC3E}">
        <p14:creationId xmlns:p14="http://schemas.microsoft.com/office/powerpoint/2010/main" val="1419760335"/>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F795C-609C-5532-87E5-14E4D57B8028}"/>
              </a:ext>
            </a:extLst>
          </p:cNvPr>
          <p:cNvSpPr>
            <a:spLocks noGrp="1"/>
          </p:cNvSpPr>
          <p:nvPr>
            <p:ph type="title"/>
          </p:nvPr>
        </p:nvSpPr>
        <p:spPr>
          <a:xfrm>
            <a:off x="499500" y="1995059"/>
            <a:ext cx="6303636" cy="2867882"/>
          </a:xfrm>
        </p:spPr>
        <p:txBody>
          <a:bodyPr>
            <a:normAutofit/>
          </a:bodyPr>
          <a:lstStyle/>
          <a:p>
            <a:pPr algn="ctr"/>
            <a:r>
              <a:rPr lang="en-US" sz="4400" dirty="0">
                <a:latin typeface="Instrument Sans Semi Bold" pitchFamily="34" charset="0"/>
                <a:ea typeface="Instrument Sans Semi Bold" pitchFamily="34" charset="-122"/>
                <a:cs typeface="Instrument Sans Semi Bold" pitchFamily="34" charset="-120"/>
              </a:rPr>
              <a:t>Car Resale Price Prediction using </a:t>
            </a:r>
            <a:r>
              <a:rPr lang="en-US" sz="4400" dirty="0" err="1">
                <a:latin typeface="Instrument Sans Semi Bold" pitchFamily="34" charset="0"/>
                <a:ea typeface="Instrument Sans Semi Bold" pitchFamily="34" charset="-122"/>
                <a:cs typeface="Instrument Sans Semi Bold" pitchFamily="34" charset="-120"/>
              </a:rPr>
              <a:t>LightGBM</a:t>
            </a:r>
            <a:br>
              <a:rPr lang="en-US" dirty="0"/>
            </a:br>
            <a:endParaRPr lang="en-IN" dirty="0"/>
          </a:p>
        </p:txBody>
      </p:sp>
      <p:sp>
        <p:nvSpPr>
          <p:cNvPr id="4" name="Text Placeholder 3">
            <a:extLst>
              <a:ext uri="{FF2B5EF4-FFF2-40B4-BE49-F238E27FC236}">
                <a16:creationId xmlns:a16="http://schemas.microsoft.com/office/drawing/2014/main" id="{3C11C686-70B8-EB4E-8681-6E0B76691FCD}"/>
              </a:ext>
            </a:extLst>
          </p:cNvPr>
          <p:cNvSpPr>
            <a:spLocks noGrp="1"/>
          </p:cNvSpPr>
          <p:nvPr>
            <p:ph type="body" idx="1"/>
          </p:nvPr>
        </p:nvSpPr>
        <p:spPr>
          <a:xfrm>
            <a:off x="3227832" y="4562713"/>
            <a:ext cx="4498966" cy="1368183"/>
          </a:xfrm>
        </p:spPr>
        <p:txBody>
          <a:bodyPr/>
          <a:lstStyle/>
          <a:p>
            <a:pPr algn="r"/>
            <a:r>
              <a:rPr lang="en-US" dirty="0">
                <a:solidFill>
                  <a:schemeClr val="tx1"/>
                </a:solidFill>
                <a:latin typeface="Instrument Sans Semi Bold" pitchFamily="34" charset="0"/>
                <a:ea typeface="Instrument Sans Semi Bold" pitchFamily="34" charset="-122"/>
                <a:cs typeface="Instrument Sans Semi Bold" pitchFamily="34" charset="-120"/>
              </a:rPr>
              <a:t>A Machine Learning Project</a:t>
            </a:r>
            <a:endParaRPr lang="en-US" dirty="0">
              <a:solidFill>
                <a:schemeClr val="tx1"/>
              </a:solidFill>
            </a:endParaRPr>
          </a:p>
          <a:p>
            <a:endParaRPr lang="en-IN" dirty="0"/>
          </a:p>
        </p:txBody>
      </p:sp>
      <p:pic>
        <p:nvPicPr>
          <p:cNvPr id="8" name="Picture 7">
            <a:extLst>
              <a:ext uri="{FF2B5EF4-FFF2-40B4-BE49-F238E27FC236}">
                <a16:creationId xmlns:a16="http://schemas.microsoft.com/office/drawing/2014/main" id="{AE298E3E-4CA5-C004-ADE0-988030FED2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26798" y="1490448"/>
            <a:ext cx="3877104" cy="3877104"/>
          </a:xfrm>
          <a:prstGeom prst="rect">
            <a:avLst/>
          </a:prstGeom>
        </p:spPr>
      </p:pic>
    </p:spTree>
    <p:extLst>
      <p:ext uri="{BB962C8B-B14F-4D97-AF65-F5344CB8AC3E}">
        <p14:creationId xmlns:p14="http://schemas.microsoft.com/office/powerpoint/2010/main" val="436075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AD808-19A9-0A53-7D0E-E7A224731934}"/>
              </a:ext>
            </a:extLst>
          </p:cNvPr>
          <p:cNvSpPr>
            <a:spLocks noGrp="1"/>
          </p:cNvSpPr>
          <p:nvPr>
            <p:ph type="title"/>
          </p:nvPr>
        </p:nvSpPr>
        <p:spPr>
          <a:xfrm>
            <a:off x="3529584" y="481357"/>
            <a:ext cx="4624127" cy="1596177"/>
          </a:xfrm>
        </p:spPr>
        <p:txBody>
          <a:bodyPr/>
          <a:lstStyle/>
          <a:p>
            <a:pPr algn="l"/>
            <a:r>
              <a:rPr lang="en-US" dirty="0">
                <a:latin typeface="ADLaM Display" panose="02010000000000000000" pitchFamily="2" charset="0"/>
                <a:ea typeface="ADLaM Display" panose="02010000000000000000" pitchFamily="2" charset="0"/>
                <a:cs typeface="ADLaM Display" panose="02010000000000000000" pitchFamily="2" charset="0"/>
              </a:rPr>
              <a:t>Team members :</a:t>
            </a:r>
            <a:endParaRPr lang="en-IN"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3" name="Content Placeholder 2">
            <a:extLst>
              <a:ext uri="{FF2B5EF4-FFF2-40B4-BE49-F238E27FC236}">
                <a16:creationId xmlns:a16="http://schemas.microsoft.com/office/drawing/2014/main" id="{943C7CB1-294D-7254-4061-1C14BE8D18B5}"/>
              </a:ext>
            </a:extLst>
          </p:cNvPr>
          <p:cNvSpPr>
            <a:spLocks noGrp="1"/>
          </p:cNvSpPr>
          <p:nvPr>
            <p:ph sz="quarter" idx="13"/>
          </p:nvPr>
        </p:nvSpPr>
        <p:spPr>
          <a:xfrm>
            <a:off x="3718246" y="2265586"/>
            <a:ext cx="4755506" cy="3424107"/>
          </a:xfrm>
        </p:spPr>
        <p:txBody>
          <a:bodyPr>
            <a:normAutofit fontScale="77500" lnSpcReduction="20000"/>
          </a:bodyPr>
          <a:lstStyle/>
          <a:p>
            <a:pPr marL="0" indent="0">
              <a:lnSpc>
                <a:spcPct val="300000"/>
              </a:lnSpc>
              <a:buNone/>
            </a:pPr>
            <a:r>
              <a:rPr lang="en-US" dirty="0">
                <a:latin typeface="Instrument Sans Medium" pitchFamily="34" charset="0"/>
                <a:ea typeface="Instrument Sans Medium" pitchFamily="34" charset="-122"/>
                <a:cs typeface="Instrument Sans Medium" pitchFamily="34" charset="-120"/>
              </a:rPr>
              <a:t>123cs0020 - Aryan Rajesh Gadam</a:t>
            </a:r>
          </a:p>
          <a:p>
            <a:pPr marL="0" indent="0">
              <a:lnSpc>
                <a:spcPct val="300000"/>
              </a:lnSpc>
              <a:buNone/>
            </a:pPr>
            <a:r>
              <a:rPr lang="en-US" dirty="0">
                <a:latin typeface="Instrument Sans Medium" pitchFamily="34" charset="0"/>
                <a:ea typeface="Instrument Sans Medium" pitchFamily="34" charset="-122"/>
                <a:cs typeface="Instrument Sans Medium" pitchFamily="34" charset="-120"/>
              </a:rPr>
              <a:t>123cs0042 - Tagore Jagata</a:t>
            </a:r>
          </a:p>
          <a:p>
            <a:pPr marL="0" indent="0">
              <a:lnSpc>
                <a:spcPct val="300000"/>
              </a:lnSpc>
              <a:buNone/>
            </a:pPr>
            <a:r>
              <a:rPr lang="en-US" dirty="0">
                <a:latin typeface="Instrument Sans Medium" pitchFamily="34" charset="0"/>
                <a:ea typeface="Instrument Sans Medium" pitchFamily="34" charset="-122"/>
                <a:cs typeface="Instrument Sans Medium" pitchFamily="34" charset="-120"/>
              </a:rPr>
              <a:t>123cs0036 - Rovan Mullangi</a:t>
            </a:r>
            <a:endParaRPr lang="en-US" dirty="0"/>
          </a:p>
          <a:p>
            <a:pPr marL="0" indent="0">
              <a:buNone/>
            </a:pPr>
            <a:endParaRPr lang="en-IN" dirty="0"/>
          </a:p>
        </p:txBody>
      </p:sp>
    </p:spTree>
    <p:extLst>
      <p:ext uri="{BB962C8B-B14F-4D97-AF65-F5344CB8AC3E}">
        <p14:creationId xmlns:p14="http://schemas.microsoft.com/office/powerpoint/2010/main" val="831781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CBE5D-74CD-10B1-70B0-5A35BDD59CD9}"/>
              </a:ext>
            </a:extLst>
          </p:cNvPr>
          <p:cNvSpPr>
            <a:spLocks noGrp="1"/>
          </p:cNvSpPr>
          <p:nvPr>
            <p:ph type="title"/>
          </p:nvPr>
        </p:nvSpPr>
        <p:spPr>
          <a:xfrm>
            <a:off x="685801" y="618517"/>
            <a:ext cx="6775704" cy="1219427"/>
          </a:xfrm>
        </p:spPr>
        <p:txBody>
          <a:bodyPr/>
          <a:lstStyle/>
          <a:p>
            <a:r>
              <a:rPr lang="en-US" sz="2800" b="1" dirty="0">
                <a:latin typeface="Instrument Sans Semi Bold" pitchFamily="34" charset="0"/>
                <a:ea typeface="Instrument Sans Semi Bold" pitchFamily="34" charset="-122"/>
                <a:cs typeface="Instrument Sans Semi Bold" pitchFamily="34" charset="-120"/>
              </a:rPr>
              <a:t>The Problem: An Asymmetric Market</a:t>
            </a:r>
            <a:br>
              <a:rPr lang="en-US" dirty="0"/>
            </a:br>
            <a:endParaRPr lang="en-IN" dirty="0"/>
          </a:p>
        </p:txBody>
      </p:sp>
      <p:sp>
        <p:nvSpPr>
          <p:cNvPr id="3" name="Content Placeholder 2">
            <a:extLst>
              <a:ext uri="{FF2B5EF4-FFF2-40B4-BE49-F238E27FC236}">
                <a16:creationId xmlns:a16="http://schemas.microsoft.com/office/drawing/2014/main" id="{7E944A35-9CC6-EC19-28A0-1BC091506525}"/>
              </a:ext>
            </a:extLst>
          </p:cNvPr>
          <p:cNvSpPr>
            <a:spLocks noGrp="1"/>
          </p:cNvSpPr>
          <p:nvPr>
            <p:ph sz="quarter" idx="13"/>
          </p:nvPr>
        </p:nvSpPr>
        <p:spPr>
          <a:xfrm>
            <a:off x="685801" y="1362456"/>
            <a:ext cx="10591799" cy="5404104"/>
          </a:xfrm>
        </p:spPr>
        <p:txBody>
          <a:bodyPr/>
          <a:lstStyle/>
          <a:p>
            <a:pPr marL="0" indent="0">
              <a:buNone/>
            </a:pPr>
            <a:r>
              <a:rPr lang="en-US" sz="2000" dirty="0">
                <a:latin typeface="Instrument Sans Medium" pitchFamily="34" charset="0"/>
                <a:ea typeface="Instrument Sans Medium" pitchFamily="34" charset="-122"/>
                <a:cs typeface="Instrument Sans Medium" pitchFamily="34" charset="-120"/>
              </a:rPr>
              <a:t>The used car market suffers from significant </a:t>
            </a:r>
            <a:r>
              <a:rPr lang="en-US" sz="2000" b="1" dirty="0">
                <a:latin typeface="Instrument Sans Medium" pitchFamily="34" charset="0"/>
                <a:ea typeface="Instrument Sans Medium" pitchFamily="34" charset="-122"/>
                <a:cs typeface="Instrument Sans Medium" pitchFamily="34" charset="-120"/>
              </a:rPr>
              <a:t>price volatility</a:t>
            </a:r>
            <a:r>
              <a:rPr lang="en-US" sz="2000" dirty="0">
                <a:latin typeface="Instrument Sans Medium" pitchFamily="34" charset="0"/>
                <a:ea typeface="Instrument Sans Medium" pitchFamily="34" charset="-122"/>
                <a:cs typeface="Instrument Sans Medium" pitchFamily="34" charset="-120"/>
              </a:rPr>
              <a:t> and information asymmetry, creating substantial challenges for both buyers and sellers. Unlike new vehicles with standardized pricing, used cars have highly variable values dependent on numerous factors including age, mileage, condition, and market demand.</a:t>
            </a:r>
            <a:endParaRPr lang="en-US" sz="2000" dirty="0"/>
          </a:p>
          <a:p>
            <a:pPr marL="0" indent="0">
              <a:buNone/>
            </a:pPr>
            <a:r>
              <a:rPr lang="en-US" sz="1800" dirty="0">
                <a:latin typeface="Instrument Sans Medium" pitchFamily="34" charset="0"/>
                <a:ea typeface="Instrument Sans Medium" pitchFamily="34" charset="-122"/>
                <a:cs typeface="Instrument Sans Medium" pitchFamily="34" charset="-120"/>
              </a:rPr>
              <a:t>Buyers often struggle to determine whether they're paying a fair price, while sellers face difficulty in accurately valuing their vehicles. This </a:t>
            </a:r>
            <a:r>
              <a:rPr lang="en-US" sz="1800" b="1" dirty="0">
                <a:latin typeface="Instrument Sans Medium" pitchFamily="34" charset="0"/>
                <a:ea typeface="Instrument Sans Medium" pitchFamily="34" charset="-122"/>
                <a:cs typeface="Instrument Sans Medium" pitchFamily="34" charset="-120"/>
              </a:rPr>
              <a:t>information gap</a:t>
            </a:r>
            <a:r>
              <a:rPr lang="en-US" sz="1800" dirty="0">
                <a:latin typeface="Instrument Sans Medium" pitchFamily="34" charset="0"/>
                <a:ea typeface="Instrument Sans Medium" pitchFamily="34" charset="-122"/>
                <a:cs typeface="Instrument Sans Medium" pitchFamily="34" charset="-120"/>
              </a:rPr>
              <a:t> leads to suboptimal transactions, reduced market efficiency, and diminished trust between parties. Traditional valuation methods rely heavily on dealer expertise or simplistic depreciation models that fail to capture the complexity of pricing dynamics.</a:t>
            </a:r>
          </a:p>
          <a:p>
            <a:pPr marL="0" indent="0">
              <a:buNone/>
            </a:pPr>
            <a:endParaRPr lang="en-US" sz="1800" dirty="0"/>
          </a:p>
          <a:p>
            <a:pPr marL="0" indent="0">
              <a:lnSpc>
                <a:spcPct val="100000"/>
              </a:lnSpc>
              <a:buNone/>
            </a:pPr>
            <a:r>
              <a:rPr lang="en-US" b="1" dirty="0">
                <a:latin typeface="Instrument Sans Semi Bold" pitchFamily="34" charset="0"/>
                <a:ea typeface="Instrument Sans Semi Bold" pitchFamily="34" charset="-122"/>
                <a:cs typeface="Instrument Sans Semi Bold" pitchFamily="34" charset="-120"/>
              </a:rPr>
              <a:t>Project Objective</a:t>
            </a:r>
            <a:endParaRPr lang="en-US" sz="1600" b="1" dirty="0">
              <a:latin typeface="Instrument Sans Semi Bold" pitchFamily="34" charset="0"/>
              <a:ea typeface="Instrument Sans Semi Bold" pitchFamily="34" charset="-122"/>
              <a:cs typeface="Instrument Sans Semi Bold" pitchFamily="34" charset="-120"/>
            </a:endParaRPr>
          </a:p>
          <a:p>
            <a:pPr marL="0" indent="0">
              <a:lnSpc>
                <a:spcPct val="100000"/>
              </a:lnSpc>
              <a:buNone/>
            </a:pPr>
            <a:r>
              <a:rPr lang="en-US" sz="1800" dirty="0">
                <a:latin typeface="Instrument Sans Medium" pitchFamily="34" charset="0"/>
                <a:ea typeface="Instrument Sans Medium" pitchFamily="34" charset="-122"/>
                <a:cs typeface="Instrument Sans Medium" pitchFamily="34" charset="-120"/>
              </a:rPr>
              <a:t>To develop and deploy a highly accurate machine learning model that predicts used car resale prices, thereby reducing information asymmetry and enabling data-driven pricing decisions in the automotive resale market.</a:t>
            </a:r>
            <a:endParaRPr lang="en-US" sz="1800" dirty="0"/>
          </a:p>
          <a:p>
            <a:pPr marL="0" indent="0">
              <a:buNone/>
            </a:pPr>
            <a:endParaRPr lang="en-US" sz="1800" b="1" dirty="0"/>
          </a:p>
          <a:p>
            <a:pPr marL="0" indent="0">
              <a:buNone/>
            </a:pP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59993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77924-4584-4092-5503-AFD037C1AF4F}"/>
              </a:ext>
            </a:extLst>
          </p:cNvPr>
          <p:cNvSpPr>
            <a:spLocks noGrp="1"/>
          </p:cNvSpPr>
          <p:nvPr>
            <p:ph type="title"/>
          </p:nvPr>
        </p:nvSpPr>
        <p:spPr>
          <a:xfrm>
            <a:off x="838200" y="822325"/>
            <a:ext cx="10515600" cy="402971"/>
          </a:xfrm>
        </p:spPr>
        <p:txBody>
          <a:bodyPr>
            <a:noAutofit/>
          </a:bodyPr>
          <a:lstStyle/>
          <a:p>
            <a:r>
              <a:rPr lang="en-US" sz="2800" b="1" dirty="0">
                <a:latin typeface="Instrument Sans Semi Bold" pitchFamily="34" charset="0"/>
                <a:ea typeface="Instrument Sans Semi Bold" pitchFamily="34" charset="-122"/>
                <a:cs typeface="Instrument Sans Semi Bold" pitchFamily="34" charset="-120"/>
              </a:rPr>
              <a:t>Dataset &amp; Key Insights from EDA</a:t>
            </a:r>
            <a:br>
              <a:rPr lang="en-US" sz="2800" dirty="0"/>
            </a:br>
            <a:endParaRPr lang="en-IN" sz="2800" dirty="0"/>
          </a:p>
        </p:txBody>
      </p:sp>
      <p:sp>
        <p:nvSpPr>
          <p:cNvPr id="5" name="Content Placeholder 4">
            <a:extLst>
              <a:ext uri="{FF2B5EF4-FFF2-40B4-BE49-F238E27FC236}">
                <a16:creationId xmlns:a16="http://schemas.microsoft.com/office/drawing/2014/main" id="{B29BFD52-78D7-40CD-D8C6-C2D645782C71}"/>
              </a:ext>
            </a:extLst>
          </p:cNvPr>
          <p:cNvSpPr>
            <a:spLocks noGrp="1"/>
          </p:cNvSpPr>
          <p:nvPr>
            <p:ph sz="half" idx="1"/>
          </p:nvPr>
        </p:nvSpPr>
        <p:spPr>
          <a:xfrm>
            <a:off x="838200" y="1225296"/>
            <a:ext cx="10701528" cy="5189411"/>
          </a:xfrm>
        </p:spPr>
        <p:txBody>
          <a:bodyPr>
            <a:normAutofit/>
          </a:bodyPr>
          <a:lstStyle/>
          <a:p>
            <a:pPr marL="0" indent="0">
              <a:buNone/>
            </a:pPr>
            <a:r>
              <a:rPr lang="en-US" sz="1600" dirty="0">
                <a:latin typeface="Instrument Sans Medium" pitchFamily="34" charset="0"/>
                <a:ea typeface="Instrument Sans Medium" pitchFamily="34" charset="-122"/>
                <a:cs typeface="Instrument Sans Medium" pitchFamily="34" charset="-120"/>
              </a:rPr>
              <a:t>Our analysis utilized a comprehensive dataset of </a:t>
            </a:r>
            <a:r>
              <a:rPr lang="en-US" sz="1600" b="1" dirty="0">
                <a:latin typeface="Instrument Sans Medium" pitchFamily="34" charset="0"/>
                <a:ea typeface="Instrument Sans Medium" pitchFamily="34" charset="-122"/>
                <a:cs typeface="Instrument Sans Medium" pitchFamily="34" charset="-120"/>
              </a:rPr>
              <a:t>1,804 cleaned vehicle records</a:t>
            </a:r>
            <a:r>
              <a:rPr lang="en-US" sz="1600" dirty="0">
                <a:latin typeface="Instrument Sans Medium" pitchFamily="34" charset="0"/>
                <a:ea typeface="Instrument Sans Medium" pitchFamily="34" charset="-122"/>
                <a:cs typeface="Instrument Sans Medium" pitchFamily="34" charset="-120"/>
              </a:rPr>
              <a:t> containing detailed specifications and transaction prices. Exploratory Data Analysis revealed critical patterns that informed our modeling approach.</a:t>
            </a:r>
          </a:p>
          <a:p>
            <a:pPr marL="0" indent="0">
              <a:buNone/>
            </a:pPr>
            <a:endParaRPr lang="en-US" sz="1600" dirty="0">
              <a:latin typeface="Instrument Sans Medium" pitchFamily="34" charset="0"/>
            </a:endParaRPr>
          </a:p>
          <a:p>
            <a:pPr marL="0" indent="0">
              <a:buNone/>
            </a:pPr>
            <a:r>
              <a:rPr lang="en-US" sz="1800" b="1" dirty="0"/>
              <a:t>Finding 1: Price Distribution  </a:t>
            </a:r>
          </a:p>
          <a:p>
            <a:pPr marL="0" indent="0">
              <a:buNone/>
            </a:pPr>
            <a:r>
              <a:rPr lang="en-US" sz="1600" dirty="0"/>
              <a:t>The </a:t>
            </a:r>
            <a:r>
              <a:rPr lang="en-US" sz="1600" dirty="0" err="1"/>
              <a:t>selling_price</a:t>
            </a:r>
            <a:r>
              <a:rPr lang="en-US" sz="1600" dirty="0"/>
              <a:t> exhibits heavy right-skewness, with most vehicles concentrated in lower price ranges and a long tail of luxury vehicles. This distribution necessitated logarithmic transformation to normalize the target variable and improve model performance.</a:t>
            </a:r>
          </a:p>
          <a:p>
            <a:pPr marL="0" indent="0">
              <a:buNone/>
            </a:pPr>
            <a:endParaRPr lang="en-US" sz="1600" dirty="0"/>
          </a:p>
          <a:p>
            <a:pPr marL="0" indent="0">
              <a:buNone/>
            </a:pPr>
            <a:r>
              <a:rPr lang="en-US" sz="1800" b="1" dirty="0"/>
              <a:t>Finding 2: Feature Correlations  </a:t>
            </a:r>
          </a:p>
          <a:p>
            <a:pPr marL="0" indent="0">
              <a:buNone/>
            </a:pPr>
            <a:r>
              <a:rPr lang="en-US" sz="1600" dirty="0"/>
              <a:t>Strong positive correlations emerged between price and key performance metrics, particularly Max Power (bhp) and Engine Size (cc). These technical specifications serve as powerful predictors of vehicle value in the resale market.</a:t>
            </a:r>
          </a:p>
          <a:p>
            <a:pPr marL="0" indent="0">
              <a:buNone/>
            </a:pPr>
            <a:endParaRPr lang="en-US" sz="1600" dirty="0"/>
          </a:p>
          <a:p>
            <a:pPr marL="0" indent="0">
              <a:buNone/>
            </a:pPr>
            <a:r>
              <a:rPr lang="en-US" sz="1800" b="1" dirty="0"/>
              <a:t>Finding 3: Depreciation Patterns  </a:t>
            </a:r>
          </a:p>
          <a:p>
            <a:pPr marL="0" indent="0">
              <a:buNone/>
            </a:pPr>
            <a:r>
              <a:rPr lang="en-US" sz="1600" dirty="0"/>
              <a:t>Vehicle age demonstrated a clear non-linear relationship with price, with rapid depreciation in early years that stabilizes over time. This pattern validated the importance of incorporating age-based features in our modeling strategy.</a:t>
            </a:r>
          </a:p>
          <a:p>
            <a:pPr marL="0" indent="0">
              <a:buNone/>
            </a:pPr>
            <a:endParaRPr lang="en-US" sz="1600" dirty="0"/>
          </a:p>
          <a:p>
            <a:pPr marL="0" indent="0">
              <a:buNone/>
            </a:pPr>
            <a:endParaRPr lang="en-IN" sz="1600" dirty="0"/>
          </a:p>
        </p:txBody>
      </p:sp>
    </p:spTree>
    <p:extLst>
      <p:ext uri="{BB962C8B-B14F-4D97-AF65-F5344CB8AC3E}">
        <p14:creationId xmlns:p14="http://schemas.microsoft.com/office/powerpoint/2010/main" val="944995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83FFB-D115-CFAF-EE2C-1480B38A620F}"/>
              </a:ext>
            </a:extLst>
          </p:cNvPr>
          <p:cNvSpPr>
            <a:spLocks noGrp="1"/>
          </p:cNvSpPr>
          <p:nvPr>
            <p:ph type="title"/>
          </p:nvPr>
        </p:nvSpPr>
        <p:spPr/>
        <p:txBody>
          <a:bodyPr>
            <a:normAutofit/>
          </a:bodyPr>
          <a:lstStyle/>
          <a:p>
            <a:r>
              <a:rPr lang="en-US" sz="3100" b="1" dirty="0">
                <a:latin typeface="Instrument Sans Semi Bold" pitchFamily="34" charset="0"/>
                <a:ea typeface="Instrument Sans Semi Bold" pitchFamily="34" charset="-122"/>
                <a:cs typeface="Instrument Sans Semi Bold" pitchFamily="34" charset="-120"/>
              </a:rPr>
              <a:t>Data Preprocessing &amp; Feature Engineering</a:t>
            </a:r>
            <a:br>
              <a:rPr lang="en-US" dirty="0"/>
            </a:br>
            <a:endParaRPr lang="en-IN" dirty="0"/>
          </a:p>
        </p:txBody>
      </p:sp>
      <p:sp>
        <p:nvSpPr>
          <p:cNvPr id="4" name="Content Placeholder 3">
            <a:extLst>
              <a:ext uri="{FF2B5EF4-FFF2-40B4-BE49-F238E27FC236}">
                <a16:creationId xmlns:a16="http://schemas.microsoft.com/office/drawing/2014/main" id="{D513FFFF-7B13-1F6A-E84B-336C3DD97150}"/>
              </a:ext>
            </a:extLst>
          </p:cNvPr>
          <p:cNvSpPr>
            <a:spLocks noGrp="1"/>
          </p:cNvSpPr>
          <p:nvPr>
            <p:ph sz="half" idx="1"/>
          </p:nvPr>
        </p:nvSpPr>
        <p:spPr/>
        <p:txBody>
          <a:bodyPr>
            <a:normAutofit fontScale="70000" lnSpcReduction="20000"/>
          </a:bodyPr>
          <a:lstStyle/>
          <a:p>
            <a:pPr marL="0" indent="0">
              <a:buNone/>
            </a:pPr>
            <a:r>
              <a:rPr lang="en-IN" sz="3400" b="1" dirty="0"/>
              <a:t>Data Cleaning  </a:t>
            </a:r>
          </a:p>
          <a:p>
            <a:pPr marL="0" indent="0">
              <a:buNone/>
            </a:pPr>
            <a:r>
              <a:rPr lang="en-IN" sz="2600" dirty="0"/>
              <a:t>Raw data required substantial preprocessing to ensure model-ready quality:  </a:t>
            </a:r>
          </a:p>
          <a:p>
            <a:r>
              <a:rPr lang="en-IN" sz="2600" dirty="0"/>
              <a:t>Numeric extraction: Converted string values (e.g., ‘120 bhp’) to pure numeric formats (120.0) for computational processing  </a:t>
            </a:r>
          </a:p>
          <a:p>
            <a:r>
              <a:rPr lang="en-IN" sz="2600" dirty="0"/>
              <a:t>Unit standardization: Normalized inconsistent units, particularly converting all torque measurements to Newton-meters (Nm)  </a:t>
            </a:r>
          </a:p>
          <a:p>
            <a:r>
              <a:rPr lang="en-IN" sz="2600" dirty="0"/>
              <a:t>Missing value imputation: Applied domain-informed strategies to handle incomplete records while preserving data integrity  </a:t>
            </a:r>
          </a:p>
          <a:p>
            <a:r>
              <a:rPr lang="en-IN" sz="2600" dirty="0"/>
              <a:t>Outlier detection: Identified and addressed anomalous values that could compromise model training </a:t>
            </a:r>
          </a:p>
        </p:txBody>
      </p:sp>
      <p:sp>
        <p:nvSpPr>
          <p:cNvPr id="5" name="Content Placeholder 4">
            <a:extLst>
              <a:ext uri="{FF2B5EF4-FFF2-40B4-BE49-F238E27FC236}">
                <a16:creationId xmlns:a16="http://schemas.microsoft.com/office/drawing/2014/main" id="{556EB1A7-BAA4-9637-4B8A-251C3A1E7E21}"/>
              </a:ext>
            </a:extLst>
          </p:cNvPr>
          <p:cNvSpPr>
            <a:spLocks noGrp="1"/>
          </p:cNvSpPr>
          <p:nvPr>
            <p:ph sz="half" idx="2"/>
          </p:nvPr>
        </p:nvSpPr>
        <p:spPr/>
        <p:txBody>
          <a:bodyPr>
            <a:normAutofit fontScale="70000" lnSpcReduction="20000"/>
          </a:bodyPr>
          <a:lstStyle/>
          <a:p>
            <a:pPr marL="0" indent="0">
              <a:buNone/>
            </a:pPr>
            <a:r>
              <a:rPr lang="en-US" sz="3400" b="1" dirty="0"/>
              <a:t>Feature Engineering  </a:t>
            </a:r>
          </a:p>
          <a:p>
            <a:pPr marL="0" indent="0">
              <a:buNone/>
            </a:pPr>
            <a:r>
              <a:rPr lang="en-US" sz="2300" dirty="0"/>
              <a:t>Created sophisticated derived features to capture complex pricing dynamics:  </a:t>
            </a:r>
          </a:p>
          <a:p>
            <a:r>
              <a:rPr lang="en-US" sz="2600" dirty="0" err="1"/>
              <a:t>car_age</a:t>
            </a:r>
            <a:r>
              <a:rPr lang="en-US" sz="2600" dirty="0"/>
              <a:t>: Calculated as (2025 – manufacturing year) to directly model depreciation effects rather than using raw year values  </a:t>
            </a:r>
          </a:p>
          <a:p>
            <a:r>
              <a:rPr lang="en-US" sz="2600" dirty="0" err="1"/>
              <a:t>age_km_interaction</a:t>
            </a:r>
            <a:r>
              <a:rPr lang="en-US" sz="2600" dirty="0"/>
              <a:t>: Multiplied </a:t>
            </a:r>
            <a:r>
              <a:rPr lang="en-US" sz="2600" dirty="0" err="1"/>
              <a:t>car_age</a:t>
            </a:r>
            <a:r>
              <a:rPr lang="en-US" sz="2600" dirty="0"/>
              <a:t> by </a:t>
            </a:r>
            <a:r>
              <a:rPr lang="en-US" sz="2600" dirty="0" err="1"/>
              <a:t>km_driven</a:t>
            </a:r>
            <a:r>
              <a:rPr lang="en-US" sz="2600" dirty="0"/>
              <a:t> to capture the combined wear effect where older, high-mileage vehicles experience accelerated value depreciation  </a:t>
            </a:r>
          </a:p>
          <a:p>
            <a:r>
              <a:rPr lang="en-US" sz="2600" dirty="0"/>
              <a:t>Power-to-weight ratios: Engineered performance metrics that better predict enthusiast vehicle pricing</a:t>
            </a:r>
          </a:p>
          <a:p>
            <a:r>
              <a:rPr lang="en-US" sz="2600" dirty="0" err="1"/>
              <a:t>brand_reputation_score</a:t>
            </a:r>
            <a:r>
              <a:rPr lang="en-US" sz="2600" dirty="0"/>
              <a:t>: Encoded manufacturer reputation based on average resale value and reliability ratings to capture brand-driven pricing influence.</a:t>
            </a:r>
          </a:p>
          <a:p>
            <a:pPr marL="0" indent="0">
              <a:buNone/>
            </a:pPr>
            <a:endParaRPr lang="en-US" sz="2600"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IN" dirty="0"/>
          </a:p>
        </p:txBody>
      </p:sp>
    </p:spTree>
    <p:extLst>
      <p:ext uri="{BB962C8B-B14F-4D97-AF65-F5344CB8AC3E}">
        <p14:creationId xmlns:p14="http://schemas.microsoft.com/office/powerpoint/2010/main" val="376157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65A3F-66F0-7E13-EA72-EC246D128DC5}"/>
              </a:ext>
            </a:extLst>
          </p:cNvPr>
          <p:cNvSpPr>
            <a:spLocks noGrp="1"/>
          </p:cNvSpPr>
          <p:nvPr>
            <p:ph type="title"/>
          </p:nvPr>
        </p:nvSpPr>
        <p:spPr/>
        <p:txBody>
          <a:bodyPr/>
          <a:lstStyle/>
          <a:p>
            <a:r>
              <a:rPr lang="en-US" sz="2800" b="1" dirty="0">
                <a:latin typeface="Instrument Sans Semi Bold" pitchFamily="34" charset="0"/>
                <a:ea typeface="Instrument Sans Semi Bold" pitchFamily="34" charset="-122"/>
                <a:cs typeface="Instrument Sans Semi Bold" pitchFamily="34" charset="-120"/>
              </a:rPr>
              <a:t>Models Evaluated</a:t>
            </a:r>
            <a:br>
              <a:rPr lang="en-US" dirty="0"/>
            </a:br>
            <a:endParaRPr lang="en-IN" dirty="0"/>
          </a:p>
        </p:txBody>
      </p:sp>
      <p:sp>
        <p:nvSpPr>
          <p:cNvPr id="3" name="Content Placeholder 2">
            <a:extLst>
              <a:ext uri="{FF2B5EF4-FFF2-40B4-BE49-F238E27FC236}">
                <a16:creationId xmlns:a16="http://schemas.microsoft.com/office/drawing/2014/main" id="{E4DD0DFA-7473-11F6-6E4E-BE13A6C443FC}"/>
              </a:ext>
            </a:extLst>
          </p:cNvPr>
          <p:cNvSpPr>
            <a:spLocks noGrp="1"/>
          </p:cNvSpPr>
          <p:nvPr>
            <p:ph sz="half" idx="1"/>
          </p:nvPr>
        </p:nvSpPr>
        <p:spPr>
          <a:xfrm>
            <a:off x="838200" y="1042417"/>
            <a:ext cx="10515600" cy="2386584"/>
          </a:xfrm>
        </p:spPr>
        <p:txBody>
          <a:bodyPr>
            <a:normAutofit/>
          </a:bodyPr>
          <a:lstStyle/>
          <a:p>
            <a:pPr marL="0" indent="0">
              <a:buNone/>
            </a:pPr>
            <a:r>
              <a:rPr lang="en-US" sz="1800" dirty="0">
                <a:latin typeface="Instrument Sans Medium" pitchFamily="34" charset="0"/>
                <a:ea typeface="Instrument Sans Medium" pitchFamily="34" charset="-122"/>
                <a:cs typeface="Instrument Sans Medium" pitchFamily="34" charset="-120"/>
              </a:rPr>
              <a:t>We conducted a comprehensive evaluation of three state-of-the-art ensemble learning algorithms, each representing different approaches to predictive modeling. Our selection criteria emphasized both </a:t>
            </a:r>
            <a:r>
              <a:rPr lang="en-US" sz="1800" b="1" dirty="0">
                <a:latin typeface="Instrument Sans Medium" pitchFamily="34" charset="0"/>
                <a:ea typeface="Instrument Sans Medium" pitchFamily="34" charset="-122"/>
                <a:cs typeface="Instrument Sans Medium" pitchFamily="34" charset="-120"/>
              </a:rPr>
              <a:t>predictive accuracy</a:t>
            </a:r>
            <a:r>
              <a:rPr lang="en-US" sz="1800" dirty="0">
                <a:latin typeface="Instrument Sans Medium" pitchFamily="34" charset="0"/>
                <a:ea typeface="Instrument Sans Medium" pitchFamily="34" charset="-122"/>
                <a:cs typeface="Instrument Sans Medium" pitchFamily="34" charset="-120"/>
              </a:rPr>
              <a:t> and generalization capability.</a:t>
            </a:r>
          </a:p>
          <a:p>
            <a:pPr marL="0" indent="0">
              <a:buNone/>
            </a:pPr>
            <a:endParaRPr lang="en-US" sz="1800" dirty="0">
              <a:latin typeface="Instrument Sans Medium" pitchFamily="34" charset="0"/>
            </a:endParaRPr>
          </a:p>
          <a:p>
            <a:pPr marL="0" indent="0">
              <a:buNone/>
            </a:pPr>
            <a:endParaRPr lang="en-US" sz="1800" dirty="0"/>
          </a:p>
          <a:p>
            <a:pPr marL="0" indent="0">
              <a:buNone/>
            </a:pPr>
            <a:endParaRPr lang="en-IN" dirty="0"/>
          </a:p>
        </p:txBody>
      </p:sp>
      <p:sp>
        <p:nvSpPr>
          <p:cNvPr id="4" name="Content Placeholder 3">
            <a:extLst>
              <a:ext uri="{FF2B5EF4-FFF2-40B4-BE49-F238E27FC236}">
                <a16:creationId xmlns:a16="http://schemas.microsoft.com/office/drawing/2014/main" id="{779D2491-2A36-BE97-36AB-F1686E5B84B1}"/>
              </a:ext>
            </a:extLst>
          </p:cNvPr>
          <p:cNvSpPr>
            <a:spLocks noGrp="1"/>
          </p:cNvSpPr>
          <p:nvPr>
            <p:ph sz="half" idx="2"/>
          </p:nvPr>
        </p:nvSpPr>
        <p:spPr>
          <a:xfrm>
            <a:off x="838200" y="1690688"/>
            <a:ext cx="10515600" cy="4920423"/>
          </a:xfrm>
        </p:spPr>
        <p:txBody>
          <a:bodyPr>
            <a:normAutofit/>
          </a:bodyPr>
          <a:lstStyle/>
          <a:p>
            <a:pPr marL="0" indent="0">
              <a:buNone/>
            </a:pPr>
            <a:endParaRPr lang="en-US" sz="2200" b="1" dirty="0"/>
          </a:p>
          <a:p>
            <a:pPr marL="0" indent="0">
              <a:buNone/>
            </a:pPr>
            <a:r>
              <a:rPr lang="en-US" sz="2200" b="1" dirty="0"/>
              <a:t>Random Forest:  </a:t>
            </a:r>
          </a:p>
          <a:p>
            <a:pPr marL="0" indent="0">
              <a:buNone/>
            </a:pPr>
            <a:r>
              <a:rPr lang="en-US" sz="2200" dirty="0"/>
              <a:t>An ensemble method that builds multiple decision trees on random data subsets, averaging their outputs for robust, low-variance predictions.  </a:t>
            </a:r>
          </a:p>
          <a:p>
            <a:pPr marL="0" indent="0">
              <a:buNone/>
            </a:pPr>
            <a:endParaRPr lang="en-US" sz="2200" dirty="0"/>
          </a:p>
          <a:p>
            <a:pPr marL="0" indent="0">
              <a:buNone/>
            </a:pPr>
            <a:r>
              <a:rPr lang="en-US" sz="2200" b="1" dirty="0" err="1"/>
              <a:t>XGBoost</a:t>
            </a:r>
            <a:r>
              <a:rPr lang="en-US" sz="2200" b="1" dirty="0"/>
              <a:t>: </a:t>
            </a:r>
            <a:r>
              <a:rPr lang="en-US" sz="2200" dirty="0"/>
              <a:t> </a:t>
            </a:r>
          </a:p>
          <a:p>
            <a:pPr marL="0" indent="0">
              <a:buNone/>
            </a:pPr>
            <a:r>
              <a:rPr lang="en-US" sz="2200" dirty="0"/>
              <a:t>A gradient boosting framework that builds trees sequentially with regularization to enhance performance and reduce overfitting.  </a:t>
            </a:r>
          </a:p>
          <a:p>
            <a:pPr marL="0" indent="0">
              <a:buNone/>
            </a:pPr>
            <a:endParaRPr lang="en-US" sz="2200" dirty="0"/>
          </a:p>
          <a:p>
            <a:pPr marL="0" indent="0">
              <a:buNone/>
            </a:pPr>
            <a:r>
              <a:rPr lang="en-US" sz="2200" b="1" dirty="0" err="1"/>
              <a:t>LightGBM</a:t>
            </a:r>
            <a:r>
              <a:rPr lang="en-US" sz="2200" b="1" dirty="0"/>
              <a:t> :</a:t>
            </a:r>
          </a:p>
          <a:p>
            <a:pPr marL="0" indent="0">
              <a:buNone/>
            </a:pPr>
            <a:r>
              <a:rPr lang="en-US" sz="2200" dirty="0"/>
              <a:t>A fast, memory-efficient gradient boosting model using a leaf-wise growth strategy for high accuracy and quick training.</a:t>
            </a:r>
          </a:p>
          <a:p>
            <a:pPr marL="0" indent="0">
              <a:buNone/>
            </a:pPr>
            <a:endParaRPr lang="en-IN" dirty="0"/>
          </a:p>
        </p:txBody>
      </p:sp>
    </p:spTree>
    <p:extLst>
      <p:ext uri="{BB962C8B-B14F-4D97-AF65-F5344CB8AC3E}">
        <p14:creationId xmlns:p14="http://schemas.microsoft.com/office/powerpoint/2010/main" val="1919717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66111-ADEC-35DD-8E21-B294F110627E}"/>
              </a:ext>
            </a:extLst>
          </p:cNvPr>
          <p:cNvSpPr>
            <a:spLocks noGrp="1"/>
          </p:cNvSpPr>
          <p:nvPr>
            <p:ph type="title"/>
          </p:nvPr>
        </p:nvSpPr>
        <p:spPr>
          <a:xfrm>
            <a:off x="838200" y="1014984"/>
            <a:ext cx="10515600" cy="675704"/>
          </a:xfrm>
        </p:spPr>
        <p:txBody>
          <a:bodyPr>
            <a:normAutofit fontScale="90000"/>
          </a:bodyPr>
          <a:lstStyle/>
          <a:p>
            <a:r>
              <a:rPr lang="en-US" sz="3100" b="1" dirty="0">
                <a:latin typeface="Instrument Sans Semi Bold" pitchFamily="34" charset="0"/>
                <a:ea typeface="Instrument Sans Semi Bold" pitchFamily="34" charset="-122"/>
                <a:cs typeface="Instrument Sans Semi Bold" pitchFamily="34" charset="-120"/>
              </a:rPr>
              <a:t>Model Performance &amp; Results(</a:t>
            </a:r>
            <a:r>
              <a:rPr lang="en-US" sz="2700" b="1" dirty="0">
                <a:latin typeface="Instrument Sans Semi Bold" pitchFamily="34" charset="0"/>
                <a:ea typeface="Instrument Sans Semi Bold" pitchFamily="34" charset="-122"/>
                <a:cs typeface="Instrument Sans Semi Bold" pitchFamily="34" charset="-120"/>
              </a:rPr>
              <a:t>Test Set R² Score Comparison)</a:t>
            </a:r>
            <a:br>
              <a:rPr lang="en-US" dirty="0"/>
            </a:br>
            <a:br>
              <a:rPr lang="en-US" dirty="0"/>
            </a:br>
            <a:endParaRPr lang="en-IN" dirty="0"/>
          </a:p>
        </p:txBody>
      </p:sp>
      <p:graphicFrame>
        <p:nvGraphicFramePr>
          <p:cNvPr id="6" name="Content Placeholder 5">
            <a:extLst>
              <a:ext uri="{FF2B5EF4-FFF2-40B4-BE49-F238E27FC236}">
                <a16:creationId xmlns:a16="http://schemas.microsoft.com/office/drawing/2014/main" id="{81415EBD-5BBA-BC4E-9F19-2AC09F6C57D0}"/>
              </a:ext>
            </a:extLst>
          </p:cNvPr>
          <p:cNvGraphicFramePr>
            <a:graphicFrameLocks noGrp="1"/>
          </p:cNvGraphicFramePr>
          <p:nvPr>
            <p:ph sz="quarter" idx="13"/>
            <p:extLst>
              <p:ext uri="{D42A27DB-BD31-4B8C-83A1-F6EECF244321}">
                <p14:modId xmlns:p14="http://schemas.microsoft.com/office/powerpoint/2010/main" val="598636602"/>
              </p:ext>
            </p:extLst>
          </p:nvPr>
        </p:nvGraphicFramePr>
        <p:xfrm>
          <a:off x="2314956" y="1964627"/>
          <a:ext cx="7562088" cy="342423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071252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CFF90-5096-FCC9-7234-4A9E590A0B2F}"/>
              </a:ext>
            </a:extLst>
          </p:cNvPr>
          <p:cNvSpPr>
            <a:spLocks noGrp="1"/>
          </p:cNvSpPr>
          <p:nvPr>
            <p:ph type="title"/>
          </p:nvPr>
        </p:nvSpPr>
        <p:spPr/>
        <p:txBody>
          <a:bodyPr/>
          <a:lstStyle/>
          <a:p>
            <a:r>
              <a:rPr lang="en-US" sz="2800" b="1" dirty="0">
                <a:latin typeface="Instrument Sans Semi Bold" pitchFamily="34" charset="0"/>
                <a:ea typeface="Instrument Sans Semi Bold" pitchFamily="34" charset="-122"/>
                <a:cs typeface="Instrument Sans Semi Bold" pitchFamily="34" charset="-120"/>
              </a:rPr>
              <a:t>Why </a:t>
            </a:r>
            <a:r>
              <a:rPr lang="en-US" sz="2800" b="1" dirty="0" err="1">
                <a:latin typeface="Instrument Sans Semi Bold" pitchFamily="34" charset="0"/>
                <a:ea typeface="Instrument Sans Semi Bold" pitchFamily="34" charset="-122"/>
                <a:cs typeface="Instrument Sans Semi Bold" pitchFamily="34" charset="-120"/>
              </a:rPr>
              <a:t>LightGBM</a:t>
            </a:r>
            <a:r>
              <a:rPr lang="en-US" sz="2800" b="1" dirty="0">
                <a:latin typeface="Instrument Sans Semi Bold" pitchFamily="34" charset="0"/>
                <a:ea typeface="Instrument Sans Semi Bold" pitchFamily="34" charset="-122"/>
                <a:cs typeface="Instrument Sans Semi Bold" pitchFamily="34" charset="-120"/>
              </a:rPr>
              <a:t> Was Selected</a:t>
            </a:r>
            <a:br>
              <a:rPr lang="en-US" dirty="0"/>
            </a:br>
            <a:endParaRPr lang="en-IN" dirty="0"/>
          </a:p>
        </p:txBody>
      </p:sp>
      <p:sp>
        <p:nvSpPr>
          <p:cNvPr id="3" name="Content Placeholder 2">
            <a:extLst>
              <a:ext uri="{FF2B5EF4-FFF2-40B4-BE49-F238E27FC236}">
                <a16:creationId xmlns:a16="http://schemas.microsoft.com/office/drawing/2014/main" id="{AA5E9D3E-96A6-1B87-F7CC-6D966E24D75D}"/>
              </a:ext>
            </a:extLst>
          </p:cNvPr>
          <p:cNvSpPr>
            <a:spLocks noGrp="1"/>
          </p:cNvSpPr>
          <p:nvPr>
            <p:ph sz="quarter" idx="13"/>
          </p:nvPr>
        </p:nvSpPr>
        <p:spPr>
          <a:xfrm>
            <a:off x="913774" y="1088136"/>
            <a:ext cx="10363826" cy="5550408"/>
          </a:xfrm>
        </p:spPr>
        <p:txBody>
          <a:bodyPr>
            <a:normAutofit fontScale="55000" lnSpcReduction="20000"/>
          </a:bodyPr>
          <a:lstStyle/>
          <a:p>
            <a:pPr marL="0" indent="0">
              <a:buNone/>
            </a:pPr>
            <a:r>
              <a:rPr lang="en-US" dirty="0"/>
              <a:t> </a:t>
            </a:r>
          </a:p>
          <a:p>
            <a:pPr marL="0" indent="0">
              <a:buNone/>
            </a:pPr>
            <a:r>
              <a:rPr lang="en-US" sz="3300" b="1" dirty="0"/>
              <a:t>Superior Predictive Accuracy  </a:t>
            </a:r>
          </a:p>
          <a:p>
            <a:pPr marL="0" indent="0">
              <a:buNone/>
            </a:pPr>
            <a:r>
              <a:rPr lang="en-US" dirty="0"/>
              <a:t>Achieved the highest R² score of 84.40%, explaining over four-fifths of price variance in the test set.  </a:t>
            </a:r>
          </a:p>
          <a:p>
            <a:pPr marL="0" indent="0">
              <a:buNone/>
            </a:pPr>
            <a:r>
              <a:rPr lang="en-US" dirty="0"/>
              <a:t>This performance significantly outpaced Random Forest (68.77%) and </a:t>
            </a:r>
            <a:r>
              <a:rPr lang="en-US" dirty="0" err="1"/>
              <a:t>XGBoost</a:t>
            </a:r>
            <a:r>
              <a:rPr lang="en-US" dirty="0"/>
              <a:t> (56.95%), establishing </a:t>
            </a:r>
            <a:r>
              <a:rPr lang="en-US" dirty="0" err="1"/>
              <a:t>LightGBM</a:t>
            </a:r>
            <a:r>
              <a:rPr lang="en-US" dirty="0"/>
              <a:t> as the clear leader.  </a:t>
            </a:r>
          </a:p>
          <a:p>
            <a:pPr marL="0" indent="0">
              <a:buNone/>
            </a:pPr>
            <a:endParaRPr lang="en-US" dirty="0"/>
          </a:p>
          <a:p>
            <a:pPr marL="0" indent="0">
              <a:buNone/>
            </a:pPr>
            <a:r>
              <a:rPr lang="en-US" sz="3300" b="1" dirty="0"/>
              <a:t>Lowest Prediction Error  </a:t>
            </a:r>
          </a:p>
          <a:p>
            <a:pPr marL="0" indent="0">
              <a:buNone/>
            </a:pPr>
            <a:r>
              <a:rPr lang="en-US" dirty="0"/>
              <a:t>Recorded the minimum Mean Absolute Error (~₹2.32 lakh) and Root Mean Square Error (~₹9.76 lakh),  </a:t>
            </a:r>
          </a:p>
          <a:p>
            <a:pPr marL="0" indent="0">
              <a:buNone/>
            </a:pPr>
            <a:r>
              <a:rPr lang="en-US" dirty="0"/>
              <a:t>indicating consistently accurate predictions with minimal deviation from actual selling prices across all vehicle segments.  </a:t>
            </a:r>
          </a:p>
          <a:p>
            <a:pPr marL="0" indent="0">
              <a:buNone/>
            </a:pPr>
            <a:endParaRPr lang="en-US" dirty="0"/>
          </a:p>
          <a:p>
            <a:pPr marL="0" indent="0">
              <a:buNone/>
            </a:pPr>
            <a:r>
              <a:rPr lang="en-US" dirty="0"/>
              <a:t> </a:t>
            </a:r>
          </a:p>
          <a:p>
            <a:pPr marL="0" indent="0">
              <a:buNone/>
            </a:pPr>
            <a:r>
              <a:rPr lang="en-US" sz="3300" b="1" dirty="0"/>
              <a:t>Robust Generalization  </a:t>
            </a:r>
          </a:p>
          <a:p>
            <a:pPr marL="0" indent="0">
              <a:buNone/>
            </a:pPr>
            <a:r>
              <a:rPr lang="en-US" dirty="0"/>
              <a:t>Demonstrated no evidence of overfitting, with cross-validation scores closely matching test set performance.  </a:t>
            </a:r>
          </a:p>
          <a:p>
            <a:pPr marL="0" indent="0">
              <a:buNone/>
            </a:pPr>
            <a:r>
              <a:rPr lang="en-US" dirty="0"/>
              <a:t>This consistency confirms the model’s ability to make reliable predictions on previously unseen vehicle data.  </a:t>
            </a:r>
          </a:p>
          <a:p>
            <a:pPr marL="0" indent="0">
              <a:buNone/>
            </a:pPr>
            <a:r>
              <a:rPr lang="en-US" dirty="0"/>
              <a:t> </a:t>
            </a:r>
          </a:p>
          <a:p>
            <a:pPr marL="0" indent="0">
              <a:buNone/>
            </a:pPr>
            <a:r>
              <a:rPr lang="en-US" sz="3300" b="1" dirty="0"/>
              <a:t>Effective Feature Utilization  </a:t>
            </a:r>
          </a:p>
          <a:p>
            <a:pPr marL="0" indent="0">
              <a:buNone/>
            </a:pPr>
            <a:r>
              <a:rPr lang="en-US" dirty="0"/>
              <a:t>Successfully leveraged engineered features, particularly the </a:t>
            </a:r>
            <a:r>
              <a:rPr lang="en-US" dirty="0" err="1"/>
              <a:t>age_km_interaction</a:t>
            </a:r>
            <a:r>
              <a:rPr lang="en-US" dirty="0"/>
              <a:t> term,  </a:t>
            </a:r>
          </a:p>
          <a:p>
            <a:pPr marL="0" indent="0">
              <a:buNone/>
            </a:pPr>
            <a:r>
              <a:rPr lang="en-US" dirty="0"/>
              <a:t>proving that our domain-informed feature engineering significantly enhanced predictive capability beyond raw input variables.</a:t>
            </a:r>
          </a:p>
          <a:p>
            <a:pPr marL="0" indent="0">
              <a:buNone/>
            </a:pPr>
            <a:endParaRPr lang="en-IN" dirty="0"/>
          </a:p>
        </p:txBody>
      </p:sp>
    </p:spTree>
    <p:extLst>
      <p:ext uri="{BB962C8B-B14F-4D97-AF65-F5344CB8AC3E}">
        <p14:creationId xmlns:p14="http://schemas.microsoft.com/office/powerpoint/2010/main" val="1441227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D0DA1-79F8-E500-CC49-014121CEE7BB}"/>
              </a:ext>
            </a:extLst>
          </p:cNvPr>
          <p:cNvSpPr>
            <a:spLocks noGrp="1"/>
          </p:cNvSpPr>
          <p:nvPr>
            <p:ph type="title"/>
          </p:nvPr>
        </p:nvSpPr>
        <p:spPr/>
        <p:txBody>
          <a:bodyPr>
            <a:normAutofit/>
          </a:bodyPr>
          <a:lstStyle/>
          <a:p>
            <a:r>
              <a:rPr lang="en-US" sz="3100" b="1" dirty="0">
                <a:latin typeface="Instrument Sans Semi Bold" pitchFamily="34" charset="0"/>
                <a:ea typeface="Instrument Sans Semi Bold" pitchFamily="34" charset="-122"/>
                <a:cs typeface="Instrument Sans Semi Bold" pitchFamily="34" charset="-120"/>
              </a:rPr>
              <a:t>Key Price Drivers: Feature Importance Analysis</a:t>
            </a:r>
            <a:br>
              <a:rPr lang="en-US" dirty="0"/>
            </a:br>
            <a:endParaRPr lang="en-IN" dirty="0"/>
          </a:p>
        </p:txBody>
      </p:sp>
      <p:sp>
        <p:nvSpPr>
          <p:cNvPr id="3" name="Content Placeholder 2">
            <a:extLst>
              <a:ext uri="{FF2B5EF4-FFF2-40B4-BE49-F238E27FC236}">
                <a16:creationId xmlns:a16="http://schemas.microsoft.com/office/drawing/2014/main" id="{0BBAB712-7A60-6951-F37E-E0AE02B2F716}"/>
              </a:ext>
            </a:extLst>
          </p:cNvPr>
          <p:cNvSpPr>
            <a:spLocks noGrp="1"/>
          </p:cNvSpPr>
          <p:nvPr>
            <p:ph sz="quarter" idx="13"/>
          </p:nvPr>
        </p:nvSpPr>
        <p:spPr>
          <a:xfrm>
            <a:off x="913774" y="1124712"/>
            <a:ext cx="10363826" cy="5368163"/>
          </a:xfrm>
        </p:spPr>
        <p:txBody>
          <a:bodyPr>
            <a:normAutofit/>
          </a:bodyPr>
          <a:lstStyle/>
          <a:p>
            <a:pPr marL="0" indent="0">
              <a:buNone/>
            </a:pPr>
            <a:r>
              <a:rPr lang="en-US" sz="2100" b="1" dirty="0"/>
              <a:t>Dominant Predictor Identified</a:t>
            </a:r>
          </a:p>
          <a:p>
            <a:pPr marL="0" indent="0">
              <a:buNone/>
            </a:pPr>
            <a:r>
              <a:rPr lang="en-US" sz="2100" dirty="0"/>
              <a:t>Across all evaluated models, </a:t>
            </a:r>
            <a:r>
              <a:rPr lang="en-US" sz="2100" dirty="0" err="1"/>
              <a:t>maxpowerbhp</a:t>
            </a:r>
            <a:r>
              <a:rPr lang="en-US" sz="2100" dirty="0"/>
              <a:t> emerged as the most important predictor of vehicle resale value.</a:t>
            </a:r>
            <a:br>
              <a:rPr lang="en-US" sz="2100" dirty="0"/>
            </a:br>
            <a:r>
              <a:rPr lang="en-US" sz="2100" dirty="0"/>
              <a:t>This finding aligns with automotive market dynamics where engine performance specifications serve as primary indicators of vehicle class, desirability, and pricing tier.</a:t>
            </a:r>
          </a:p>
          <a:p>
            <a:pPr marL="0" indent="0">
              <a:buNone/>
            </a:pPr>
            <a:r>
              <a:rPr lang="en-US" sz="2100" b="1" dirty="0" err="1"/>
              <a:t>LightGBM</a:t>
            </a:r>
            <a:r>
              <a:rPr lang="en-US" sz="2100" b="1" dirty="0"/>
              <a:t>-Specific Insights</a:t>
            </a:r>
          </a:p>
          <a:p>
            <a:pPr marL="0" indent="0">
              <a:buNone/>
            </a:pPr>
            <a:r>
              <a:rPr lang="en-US" sz="1800" dirty="0"/>
              <a:t>Our selected model placed substantial importance on:</a:t>
            </a:r>
          </a:p>
          <a:p>
            <a:pPr marL="0" indent="0">
              <a:buNone/>
            </a:pPr>
            <a:r>
              <a:rPr lang="en-US" sz="1800" dirty="0" err="1"/>
              <a:t>km_driven</a:t>
            </a:r>
            <a:r>
              <a:rPr lang="en-US" sz="1800" dirty="0"/>
              <a:t>: Direct measure of vehicle usage and wear</a:t>
            </a:r>
          </a:p>
          <a:p>
            <a:pPr marL="0" indent="0">
              <a:buNone/>
            </a:pPr>
            <a:r>
              <a:rPr lang="en-US" sz="1800" dirty="0" err="1"/>
              <a:t>age_km_interaction</a:t>
            </a:r>
            <a:r>
              <a:rPr lang="en-US" sz="1800" dirty="0"/>
              <a:t>: Our engineered feature capturing combined depreciation effects</a:t>
            </a:r>
          </a:p>
          <a:p>
            <a:pPr marL="0" indent="0">
              <a:buNone/>
            </a:pPr>
            <a:r>
              <a:rPr lang="en-US" sz="1800" dirty="0" err="1"/>
              <a:t>engine_cc</a:t>
            </a:r>
            <a:r>
              <a:rPr lang="en-US" sz="1800" dirty="0"/>
              <a:t>: Engine displacement as a technical specification</a:t>
            </a:r>
          </a:p>
          <a:p>
            <a:pPr marL="0" indent="0">
              <a:buNone/>
            </a:pPr>
            <a:r>
              <a:rPr lang="en-US" sz="1800" dirty="0" err="1"/>
              <a:t>car_age</a:t>
            </a:r>
            <a:r>
              <a:rPr lang="en-US" sz="1800" dirty="0"/>
              <a:t>: Years since manufacturing as a standalone depreciation factor</a:t>
            </a:r>
          </a:p>
          <a:p>
            <a:pPr marL="0" indent="0">
              <a:buNone/>
            </a:pPr>
            <a:r>
              <a:rPr lang="en-US" sz="2100" dirty="0"/>
              <a:t>The prominence of </a:t>
            </a:r>
            <a:r>
              <a:rPr lang="en-US" sz="2100" dirty="0" err="1"/>
              <a:t>age_km_interaction</a:t>
            </a:r>
            <a:r>
              <a:rPr lang="en-US" sz="2100" dirty="0"/>
              <a:t> in the feature importance ranking validates our hypothesis that the combined effect of age and mileage provides more predictive power than either variable in isolation.</a:t>
            </a:r>
          </a:p>
          <a:p>
            <a:pPr marL="0" indent="0">
              <a:buNone/>
            </a:pPr>
            <a:endParaRPr lang="en-IN" dirty="0"/>
          </a:p>
        </p:txBody>
      </p:sp>
    </p:spTree>
    <p:extLst>
      <p:ext uri="{BB962C8B-B14F-4D97-AF65-F5344CB8AC3E}">
        <p14:creationId xmlns:p14="http://schemas.microsoft.com/office/powerpoint/2010/main" val="4193585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22038-0A1F-990D-050C-28671CFBD289}"/>
              </a:ext>
            </a:extLst>
          </p:cNvPr>
          <p:cNvSpPr>
            <a:spLocks noGrp="1"/>
          </p:cNvSpPr>
          <p:nvPr>
            <p:ph type="title"/>
          </p:nvPr>
        </p:nvSpPr>
        <p:spPr>
          <a:xfrm>
            <a:off x="913774" y="1773301"/>
            <a:ext cx="10515600" cy="1325563"/>
          </a:xfrm>
        </p:spPr>
        <p:txBody>
          <a:bodyPr>
            <a:normAutofit/>
          </a:bodyPr>
          <a:lstStyle/>
          <a:p>
            <a:r>
              <a:rPr lang="en-US" sz="3100" b="1" dirty="0">
                <a:latin typeface="Instrument Sans Semi Bold" pitchFamily="34" charset="0"/>
                <a:ea typeface="Instrument Sans Semi Bold" pitchFamily="34" charset="-122"/>
                <a:cs typeface="Instrument Sans Semi Bold" pitchFamily="34" charset="-120"/>
              </a:rPr>
              <a:t>Deployment: "</a:t>
            </a:r>
            <a:r>
              <a:rPr lang="en-US" sz="3100" b="1" dirty="0" err="1">
                <a:latin typeface="Instrument Sans Semi Bold" pitchFamily="34" charset="0"/>
                <a:ea typeface="Instrument Sans Semi Bold" pitchFamily="34" charset="-122"/>
                <a:cs typeface="Instrument Sans Semi Bold" pitchFamily="34" charset="-120"/>
              </a:rPr>
              <a:t>CarValueAI</a:t>
            </a:r>
            <a:r>
              <a:rPr lang="en-US" sz="3100" b="1" dirty="0">
                <a:latin typeface="Instrument Sans Semi Bold" pitchFamily="34" charset="0"/>
                <a:ea typeface="Instrument Sans Semi Bold" pitchFamily="34" charset="-122"/>
                <a:cs typeface="Instrument Sans Semi Bold" pitchFamily="34" charset="-120"/>
              </a:rPr>
              <a:t>" Web Application</a:t>
            </a:r>
            <a:br>
              <a:rPr lang="en-US" dirty="0"/>
            </a:br>
            <a:endParaRPr lang="en-IN" dirty="0"/>
          </a:p>
        </p:txBody>
      </p:sp>
      <p:sp>
        <p:nvSpPr>
          <p:cNvPr id="3" name="Content Placeholder 2">
            <a:extLst>
              <a:ext uri="{FF2B5EF4-FFF2-40B4-BE49-F238E27FC236}">
                <a16:creationId xmlns:a16="http://schemas.microsoft.com/office/drawing/2014/main" id="{694B217D-DA94-FF27-0C5A-B61BAF0A3173}"/>
              </a:ext>
            </a:extLst>
          </p:cNvPr>
          <p:cNvSpPr>
            <a:spLocks noGrp="1"/>
          </p:cNvSpPr>
          <p:nvPr>
            <p:ph sz="quarter" idx="13"/>
          </p:nvPr>
        </p:nvSpPr>
        <p:spPr>
          <a:xfrm>
            <a:off x="913774" y="2368296"/>
            <a:ext cx="10363826" cy="4124579"/>
          </a:xfrm>
        </p:spPr>
        <p:txBody>
          <a:bodyPr/>
          <a:lstStyle/>
          <a:p>
            <a:pPr marL="0" indent="0">
              <a:buNone/>
            </a:pPr>
            <a:r>
              <a:rPr lang="en-US" sz="1800" dirty="0">
                <a:latin typeface="Instrument Sans Medium" pitchFamily="34" charset="0"/>
                <a:ea typeface="Instrument Sans Medium" pitchFamily="34" charset="-122"/>
                <a:cs typeface="Instrument Sans Medium" pitchFamily="34" charset="-120"/>
              </a:rPr>
              <a:t>To maximize practical impact and accessibility, we deployed our </a:t>
            </a:r>
            <a:r>
              <a:rPr lang="en-US" sz="1800" dirty="0" err="1">
                <a:latin typeface="Instrument Sans Medium" pitchFamily="34" charset="0"/>
                <a:ea typeface="Instrument Sans Medium" pitchFamily="34" charset="-122"/>
                <a:cs typeface="Instrument Sans Medium" pitchFamily="34" charset="-120"/>
              </a:rPr>
              <a:t>LightGBM</a:t>
            </a:r>
            <a:r>
              <a:rPr lang="en-US" sz="1800" dirty="0">
                <a:latin typeface="Instrument Sans Medium" pitchFamily="34" charset="0"/>
                <a:ea typeface="Instrument Sans Medium" pitchFamily="34" charset="-122"/>
                <a:cs typeface="Instrument Sans Medium" pitchFamily="34" charset="-120"/>
              </a:rPr>
              <a:t> model as a production-ready web application using the </a:t>
            </a:r>
            <a:r>
              <a:rPr lang="en-US" sz="1800" b="1" dirty="0">
                <a:latin typeface="Instrument Sans Medium" pitchFamily="34" charset="0"/>
                <a:ea typeface="Instrument Sans Medium" pitchFamily="34" charset="-122"/>
                <a:cs typeface="Instrument Sans Medium" pitchFamily="34" charset="-120"/>
              </a:rPr>
              <a:t>Flask framework</a:t>
            </a:r>
            <a:r>
              <a:rPr lang="en-US" sz="1800" dirty="0">
                <a:latin typeface="Instrument Sans Medium" pitchFamily="34" charset="0"/>
                <a:ea typeface="Instrument Sans Medium" pitchFamily="34" charset="-122"/>
                <a:cs typeface="Instrument Sans Medium" pitchFamily="34" charset="-120"/>
              </a:rPr>
              <a:t>. This deployment bridges the gap between academic research and real-world utility.</a:t>
            </a:r>
          </a:p>
          <a:p>
            <a:pPr marL="0" indent="0">
              <a:buNone/>
            </a:pPr>
            <a:endParaRPr lang="en-US" sz="1800" dirty="0"/>
          </a:p>
          <a:p>
            <a:pPr marL="0" indent="0">
              <a:buNone/>
            </a:pPr>
            <a:r>
              <a:rPr lang="en-US" b="1" dirty="0">
                <a:latin typeface="Instrument Sans Semi Bold" pitchFamily="34" charset="0"/>
                <a:ea typeface="Instrument Sans Semi Bold" pitchFamily="34" charset="-122"/>
                <a:cs typeface="Instrument Sans Semi Bold" pitchFamily="34" charset="-120"/>
              </a:rPr>
              <a:t>Technical Architecture</a:t>
            </a:r>
          </a:p>
          <a:p>
            <a:pPr marL="0" indent="0">
              <a:buNone/>
            </a:pPr>
            <a:r>
              <a:rPr lang="en-US" sz="1800" dirty="0">
                <a:latin typeface="Instrument Sans Medium" pitchFamily="34" charset="0"/>
                <a:ea typeface="Instrument Sans Medium" pitchFamily="34" charset="-122"/>
                <a:cs typeface="Instrument Sans Medium" pitchFamily="34" charset="-120"/>
              </a:rPr>
              <a:t>The application leverages a RESTful API architecture with the trained </a:t>
            </a:r>
            <a:r>
              <a:rPr lang="en-US" sz="1800" dirty="0" err="1">
                <a:latin typeface="Instrument Sans Medium" pitchFamily="34" charset="0"/>
                <a:ea typeface="Instrument Sans Medium" pitchFamily="34" charset="-122"/>
                <a:cs typeface="Instrument Sans Medium" pitchFamily="34" charset="-120"/>
              </a:rPr>
              <a:t>LightGBM</a:t>
            </a:r>
            <a:r>
              <a:rPr lang="en-US" sz="1800" dirty="0">
                <a:latin typeface="Instrument Sans Medium" pitchFamily="34" charset="0"/>
                <a:ea typeface="Instrument Sans Medium" pitchFamily="34" charset="-122"/>
                <a:cs typeface="Instrument Sans Medium" pitchFamily="34" charset="-120"/>
              </a:rPr>
              <a:t> model serialized using pickle for efficient inference. Backend validation ensures data quality, while responsive frontend design provides seamless experiences across devices. The deployment supports concurrent users through optimized prediction pipelines with sub-second response times.</a:t>
            </a:r>
            <a:endParaRPr lang="en-US" sz="1800" dirty="0"/>
          </a:p>
          <a:p>
            <a:pPr marL="0" indent="0">
              <a:buNone/>
            </a:pPr>
            <a:endParaRPr lang="en-US" b="1" dirty="0"/>
          </a:p>
          <a:p>
            <a:pPr marL="0" indent="0">
              <a:buNone/>
            </a:pPr>
            <a:endParaRPr lang="en-IN" dirty="0"/>
          </a:p>
        </p:txBody>
      </p:sp>
    </p:spTree>
    <p:extLst>
      <p:ext uri="{BB962C8B-B14F-4D97-AF65-F5344CB8AC3E}">
        <p14:creationId xmlns:p14="http://schemas.microsoft.com/office/powerpoint/2010/main" val="2387356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A9C62-7DF1-D87A-430C-9F0C28F98A9C}"/>
              </a:ext>
            </a:extLst>
          </p:cNvPr>
          <p:cNvSpPr>
            <a:spLocks noGrp="1"/>
          </p:cNvSpPr>
          <p:nvPr>
            <p:ph type="title"/>
          </p:nvPr>
        </p:nvSpPr>
        <p:spPr/>
        <p:txBody>
          <a:bodyPr/>
          <a:lstStyle/>
          <a:p>
            <a:r>
              <a:rPr lang="en-US" sz="2800" b="1" dirty="0">
                <a:latin typeface="Instrument Sans Semi Bold" pitchFamily="34" charset="0"/>
                <a:ea typeface="Instrument Sans Semi Bold" pitchFamily="34" charset="-122"/>
                <a:cs typeface="Instrument Sans Semi Bold" pitchFamily="34" charset="-120"/>
              </a:rPr>
              <a:t>Conclusion &amp; Business Impact</a:t>
            </a:r>
            <a:br>
              <a:rPr lang="en-US" dirty="0"/>
            </a:br>
            <a:endParaRPr lang="en-IN" dirty="0"/>
          </a:p>
        </p:txBody>
      </p:sp>
      <p:sp>
        <p:nvSpPr>
          <p:cNvPr id="3" name="Content Placeholder 2">
            <a:extLst>
              <a:ext uri="{FF2B5EF4-FFF2-40B4-BE49-F238E27FC236}">
                <a16:creationId xmlns:a16="http://schemas.microsoft.com/office/drawing/2014/main" id="{A9A5F428-6280-EA3F-2A02-8FD5CD226ABE}"/>
              </a:ext>
            </a:extLst>
          </p:cNvPr>
          <p:cNvSpPr>
            <a:spLocks noGrp="1"/>
          </p:cNvSpPr>
          <p:nvPr>
            <p:ph sz="quarter" idx="13"/>
          </p:nvPr>
        </p:nvSpPr>
        <p:spPr>
          <a:xfrm>
            <a:off x="914087" y="1307592"/>
            <a:ext cx="10363826" cy="4620767"/>
          </a:xfrm>
        </p:spPr>
        <p:txBody>
          <a:bodyPr>
            <a:normAutofit/>
          </a:bodyPr>
          <a:lstStyle/>
          <a:p>
            <a:pPr marL="0" indent="0">
              <a:buNone/>
            </a:pPr>
            <a:r>
              <a:rPr lang="en-US" sz="1900" b="1" dirty="0"/>
              <a:t>Key Technical Achievements</a:t>
            </a:r>
          </a:p>
          <a:p>
            <a:pPr marL="0" indent="0">
              <a:buNone/>
            </a:pPr>
            <a:r>
              <a:rPr lang="en-US" sz="1900" b="1" dirty="0"/>
              <a:t>1. Robust Predictive Model</a:t>
            </a:r>
          </a:p>
          <a:p>
            <a:pPr marL="0" indent="0">
              <a:buNone/>
            </a:pPr>
            <a:r>
              <a:rPr lang="en-US" sz="1900" dirty="0"/>
              <a:t>Developed a production-grade machine learning system achieving </a:t>
            </a:r>
            <a:r>
              <a:rPr lang="en-US" sz="1900" b="1" dirty="0"/>
              <a:t>84.40% R²</a:t>
            </a:r>
            <a:r>
              <a:rPr lang="en-US" sz="1900" dirty="0"/>
              <a:t>, demonstrating superior accuracy in capturing complex pricing dynamics.</a:t>
            </a:r>
          </a:p>
          <a:p>
            <a:pPr marL="0" indent="0">
              <a:buNone/>
            </a:pPr>
            <a:r>
              <a:rPr lang="en-US" sz="1900" b="1" dirty="0"/>
              <a:t>2. Algorithmic Superiority</a:t>
            </a:r>
          </a:p>
          <a:p>
            <a:pPr marL="0" indent="0">
              <a:buNone/>
            </a:pPr>
            <a:r>
              <a:rPr lang="en-US" sz="1900" dirty="0"/>
              <a:t>Empirically proved </a:t>
            </a:r>
            <a:r>
              <a:rPr lang="en-US" sz="1900" b="1" dirty="0" err="1"/>
              <a:t>LightGBM’s</a:t>
            </a:r>
            <a:r>
              <a:rPr lang="en-US" sz="1900" dirty="0"/>
              <a:t> advantages over competing ensemble methods for automotive price prediction through rigorous comparative analysis.</a:t>
            </a:r>
          </a:p>
          <a:p>
            <a:pPr marL="0" indent="0">
              <a:buNone/>
            </a:pPr>
            <a:r>
              <a:rPr lang="en-US" sz="1900" b="1" dirty="0"/>
              <a:t>3. Full-Stack Deployment</a:t>
            </a:r>
          </a:p>
          <a:p>
            <a:pPr marL="0" indent="0">
              <a:buNone/>
            </a:pPr>
            <a:r>
              <a:rPr lang="en-US" sz="1900" dirty="0"/>
              <a:t>Successfully operationalized research into a functional, user-friendly </a:t>
            </a:r>
            <a:r>
              <a:rPr lang="en-US" sz="1900" b="1" dirty="0"/>
              <a:t>Flask web application</a:t>
            </a:r>
            <a:r>
              <a:rPr lang="en-US" sz="1900" dirty="0"/>
              <a:t>, demonstrating end-to-end ML engineering capabilities.</a:t>
            </a:r>
          </a:p>
          <a:p>
            <a:pPr marL="0" indent="0">
              <a:buNone/>
            </a:pPr>
            <a:endParaRPr lang="en-IN" dirty="0"/>
          </a:p>
        </p:txBody>
      </p:sp>
    </p:spTree>
    <p:extLst>
      <p:ext uri="{BB962C8B-B14F-4D97-AF65-F5344CB8AC3E}">
        <p14:creationId xmlns:p14="http://schemas.microsoft.com/office/powerpoint/2010/main" val="8748809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TotalTime>
  <Words>1114</Words>
  <Application>Microsoft Office PowerPoint</Application>
  <PresentationFormat>Widescreen</PresentationFormat>
  <Paragraphs>97</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ADLaM Display</vt:lpstr>
      <vt:lpstr>Arial</vt:lpstr>
      <vt:lpstr>Calibri</vt:lpstr>
      <vt:lpstr>Calibri Light</vt:lpstr>
      <vt:lpstr>Instrument Sans Medium</vt:lpstr>
      <vt:lpstr>Instrument Sans Semi Bold</vt:lpstr>
      <vt:lpstr>Office Theme</vt:lpstr>
      <vt:lpstr>Car Resale Price Prediction using LightGBM </vt:lpstr>
      <vt:lpstr>Team members :</vt:lpstr>
      <vt:lpstr>The Problem: An Asymmetric Market </vt:lpstr>
      <vt:lpstr>Dataset &amp; Key Insights from EDA </vt:lpstr>
      <vt:lpstr>Data Preprocessing &amp; Feature Engineering </vt:lpstr>
      <vt:lpstr>Models Evaluated </vt:lpstr>
      <vt:lpstr>Model Performance &amp; Results(Test Set R² Score Comparison)  </vt:lpstr>
      <vt:lpstr>Why LightGBM Was Selected </vt:lpstr>
      <vt:lpstr>Key Price Drivers: Feature Importance Analysis </vt:lpstr>
      <vt:lpstr>Deployment: "CarValueAI" Web Application </vt:lpstr>
      <vt:lpstr>Conclusion &amp; Business Impact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Mullangi Rovan</dc:creator>
  <cp:lastModifiedBy>Mullangi Rovan</cp:lastModifiedBy>
  <cp:revision>2</cp:revision>
  <dcterms:created xsi:type="dcterms:W3CDTF">2025-10-31T12:17:28Z</dcterms:created>
  <dcterms:modified xsi:type="dcterms:W3CDTF">2025-10-31T12:57:57Z</dcterms:modified>
</cp:coreProperties>
</file>